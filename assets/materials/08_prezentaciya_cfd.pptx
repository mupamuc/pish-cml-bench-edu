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6413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Тема лекции: основы вычислительной аэродинамики (CFD). Курс по аэродинамическому расчёту БПЛА. Передовая инженерная школа «Цифровой инжиниринг», СПбПУ.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CFD заменяет часть дорогих продувок и даёт то, что в трубе измерить трудно. В курсе даёт две вещи: аэродинамические характеристики (в матрицу требований, оценку дальности) и распределение давления (нагрузка для прочности и аэроупругости). Достоверность зависит от области, сетки, модели турбулентности и 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Воздух — сплошная среда: непрерывные поля вместо отдельных молекул. Допустимо, пока характерный размер ≫ длины свободного пробега. Описывается законами сохранения массы, импульса и энергии для бесконечно малого объёма.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Уравнение неразрывности — сохранение массы. Первое слагаемое — изменение массы в точке, второе — конвективный перенос. Для несжимаемого течения сводится к бездивергентности скорости. Для БПЛА Ma мал — течение несжимаемо.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Уравнения Навье-Стокса — сохранение импульса. Слева инерция, справа градиент давления, вязкие напряжения и массовые силы. Система неразрывность + Навье-Стокс полностью описывает ламинарное течение; аналитика редка, решают численно.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Число Рейнольдса — отношение сил инерции к вязкости, главный критерий для аэродинамики БПЛА. Число Маха — роль сжимаемости. Пример: хорда 0,25 м, 25 м/с → Re≈4,2·10^5, Ma≈0,07.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БПЛА работают при умеренно низких (переходных) Re — ниже большой авиации. Пограничный слой долго ламинарный, возможны ламинарный отрыв с пузырём и ранний срыв; чем меньше Re — тем резче эффекты.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 больших Re течение турбулентное — хаотическое, широкий спектр масштабов. DNS разрешает все масштабы (невозможно для реальных аппаратов), LES разрешает крупные и моделирует мелкие (дорог, выборочно), RANS — осреднённое течение + модель (основной инженерный подход).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Каждую величину представляют как среднее плюс пульсацию. После осреднения в уравнениях появляется доп. член — напряжения Рейнольдса. Это новые неизвестные, уравнений для них нет — проблема замыкания, систему замыкают моделью турбулентности.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Гипотеза Буссинеска вводит турбулентную вязкость, связывая напряжения Рейнольдса со скоростями деформации. Модель турбулентности даёт способ вычислить μ_t. Для крыла БПЛА рабочая лошадка — k-omega SST, при важности перехода добавляют модель перехода.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Область разбивают на ячейки (контрольные объёмы), законы сохранения пишут в интегральной форме через потоки сквозь грани. Метод консервативен по построению — стандарт промышленного CFD. Схемы: upwind 1-го порядка устойчив но даёт численную диффузию; 2-й порядок точнее, но нужны ограничители.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 несжимаемых течениях нет отдельного уравнения для давления — его находят алгоритмами связи давление-скорость (SIMPLE). Сходимость контролируют по невязкам и по C_L. Число Куранта ограничивает шаг по времени: для явных схем CFL≤1, неявные устойчивы при больших CFL.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Типы сеток: структурированные, неструктурированные, гибридные (призматические слои + объём — частый выбор для крыла). У стенки строят тонкие призматические слои; их качество задаёт y+. low-Re подход y+≈1 (разрешение слоя), пристеночные функции y+ 30–300. Буферный слой 5–30 — хуже всего.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Подъёмная сила перпендикулярна потоку, сопротивление вдоль; приводят к безразмерным коэффициентам, эффективность — аэродинамическое качество K. C_L(α) линейна, затем максимум и срыв. Поляра — точка касания луча даёт максимальное качество. На малых Re — влияние ламинарного пузыря. Пример: C_L≈0,48.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Профиль — сечение крыла (2D). Реальное крыло конечного размаха создаёт концевые вихри и индуктивное сопротивление, тем меньше, чем больше удлинение. Крыло считают как 3D. Распределение давления из CFD — нагрузка для прочности и аэроупругости: здесь сходятся дисциплины.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Типовой маршрут: геометрия из CAD → расчётная область → сетка с призматическими слоями под нужный y+ → выбор модели (часто k-omega SST) → граничные условия → решение и контроль сходимости → постобработка → верификация и валидация (тема 13).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течение описывается уравнениями сохранения; для БПЛА — несжимаемо. Главный критерий — Re, область малых Re с ламинарным отрывом. Турбулентность через RANS, частый выбор k-omega SST. МКО консервативен. Качество сетки — y+ и сеточная сходимость. Результат питает матрицу требований и прочностной расчёт.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150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5672" y="1247180"/>
            <a:ext cx="1745878" cy="53330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175375" y="1266155"/>
            <a:ext cx="9525" cy="495226"/>
          </a:xfrm>
          <a:prstGeom prst="rect">
            <a:avLst/>
          </a:prstGeom>
          <a:solidFill>
            <a:srgbClr val="D7DAE0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8626" y="1247180"/>
            <a:ext cx="1577578" cy="53330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98459" y="2294806"/>
            <a:ext cx="519495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kern="0" spc="210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АЭРОДИНАМИЧЕСКИЙ РАСЧЁТ БПЛА · ЛЕКЦИЯ КУРСА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3542522" y="2663031"/>
            <a:ext cx="5106955" cy="11079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39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Вычислительная аэродинамика (CFD)</a:t>
            </a:r>
            <a:endParaRPr lang="en-US" sz="3900" dirty="0"/>
          </a:p>
        </p:txBody>
      </p:sp>
      <p:sp>
        <p:nvSpPr>
          <p:cNvPr id="8" name="Text 4"/>
          <p:cNvSpPr/>
          <p:nvPr/>
        </p:nvSpPr>
        <p:spPr>
          <a:xfrm>
            <a:off x="3347839" y="3809008"/>
            <a:ext cx="5496322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2025" dirty="0">
                <a:solidFill>
                  <a:srgbClr val="5A5F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численного моделирования течений</a:t>
            </a:r>
            <a:endParaRPr lang="en-US" sz="2025" dirty="0"/>
          </a:p>
        </p:txBody>
      </p:sp>
      <p:sp>
        <p:nvSpPr>
          <p:cNvPr id="9" name="Shape 5"/>
          <p:cNvSpPr/>
          <p:nvPr/>
        </p:nvSpPr>
        <p:spPr>
          <a:xfrm>
            <a:off x="5791150" y="4523383"/>
            <a:ext cx="609575" cy="28525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6"/>
          <p:cNvSpPr/>
          <p:nvPr/>
        </p:nvSpPr>
        <p:spPr>
          <a:xfrm>
            <a:off x="3090546" y="4932908"/>
            <a:ext cx="6010783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2B2F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Передовая инженерная школа «Цифровой инжиниринг», СПбПУ</a:t>
            </a:r>
            <a:endParaRPr lang="en-US" sz="1425" dirty="0"/>
          </a:p>
        </p:txBody>
      </p:sp>
      <p:sp>
        <p:nvSpPr>
          <p:cNvPr id="11" name="Text 7"/>
          <p:cNvSpPr/>
          <p:nvPr/>
        </p:nvSpPr>
        <p:spPr>
          <a:xfrm>
            <a:off x="3993927" y="6318250"/>
            <a:ext cx="4624425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скорости и давления · аэродинамические силы · картина отрыва потока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3301" y="969863"/>
            <a:ext cx="44875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ВВЕДЕНИЕ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4487590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Зачем CFD инженеру БПЛА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1804293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04577" y="1728142"/>
            <a:ext cx="5971655" cy="552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обтекания на компьютере: </a:t>
            </a:r>
            <a:r>
              <a:rPr lang="en-US" sz="14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скорости и давления </a:t>
            </a: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силы и моменты, картина отрыва.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533301" y="2442517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704577" y="2366367"/>
            <a:ext cx="5453621" cy="2992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Заменяет часть </a:t>
            </a:r>
            <a:r>
              <a:rPr lang="en-US" sz="14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дорогих продувок </a:t>
            </a: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аэродинамической трубе.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2827486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04577" y="2751336"/>
            <a:ext cx="5971655" cy="54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Даёт то, что в трубе измерить трудно: локальные отрывы, нагрузки на конструкцию.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533301" y="3467323"/>
            <a:ext cx="5969000" cy="1448222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533301" y="3467323"/>
            <a:ext cx="23813" cy="1448222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747613" y="3619624"/>
            <a:ext cx="612060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78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МЕСТО В КУРСЕ</a:t>
            </a:r>
            <a:endParaRPr lang="en-US" sz="975" dirty="0"/>
          </a:p>
        </p:txBody>
      </p:sp>
      <p:sp>
        <p:nvSpPr>
          <p:cNvPr id="15" name="Text 12"/>
          <p:cNvSpPr/>
          <p:nvPr/>
        </p:nvSpPr>
        <p:spPr>
          <a:xfrm>
            <a:off x="747613" y="3848199"/>
            <a:ext cx="5731113" cy="45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Аэродинамические характеристики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(L, D, качество) → матрица требований, оценка дальности и продолжительности полёта.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747613" y="4343797"/>
            <a:ext cx="5731113" cy="4575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Распределение давления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нагрузка для прочности планера (темы 4–7) и аэроупругости (тема 9).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83301" y="4652243"/>
            <a:ext cx="5252802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Рекомендуемый источник: проекты ПИШ СПбПУ / Центра НТИ. Под фото — подпись и ссылка.</a:t>
            </a:r>
            <a:endParaRPr lang="en-US" sz="825" dirty="0"/>
          </a:p>
        </p:txBody>
      </p:sp>
      <p:sp>
        <p:nvSpPr>
          <p:cNvPr id="18" name="Shape 15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332128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МАТЕМАТИЧЕСКАЯ МОДЕЛЬ ТЕЧЕНИЯ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3321286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Среда как сплошная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2586509"/>
            <a:ext cx="76150" cy="76150"/>
          </a:xfrm>
          <a:prstGeom prst="roundRect">
            <a:avLst>
              <a:gd name="adj" fmla="val 12508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23677" y="2500808"/>
            <a:ext cx="6765457" cy="60612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 — </a:t>
            </a:r>
            <a:r>
              <a:rPr lang="en-US" sz="15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сплошная среда (континуум) </a:t>
            </a:r>
            <a:r>
              <a:rPr lang="en-US" sz="157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вместо отдельных молекул непрерывные поля плотности, скорости, давления и температуры.</a:t>
            </a:r>
            <a:endParaRPr lang="en-US" sz="1575" dirty="0"/>
          </a:p>
        </p:txBody>
      </p:sp>
      <p:sp>
        <p:nvSpPr>
          <p:cNvPr id="8" name="Shape 5"/>
          <p:cNvSpPr/>
          <p:nvPr/>
        </p:nvSpPr>
        <p:spPr>
          <a:xfrm>
            <a:off x="533301" y="3297411"/>
            <a:ext cx="76150" cy="76150"/>
          </a:xfrm>
          <a:prstGeom prst="roundRect">
            <a:avLst>
              <a:gd name="adj" fmla="val 12508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723677" y="3211711"/>
            <a:ext cx="6765457" cy="894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57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Допустимо, пока характерный размер течения </a:t>
            </a:r>
            <a:r>
              <a:rPr lang="en-US" sz="15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 больше длины свободного пробега </a:t>
            </a:r>
            <a:r>
              <a:rPr lang="en-US" sz="157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молекул — для аппаратов в атмосфере у земли это всегда так.</a:t>
            </a:r>
            <a:endParaRPr lang="en-US" sz="1575" dirty="0"/>
          </a:p>
        </p:txBody>
      </p:sp>
      <p:sp>
        <p:nvSpPr>
          <p:cNvPr id="10" name="Text 7"/>
          <p:cNvSpPr/>
          <p:nvPr/>
        </p:nvSpPr>
        <p:spPr>
          <a:xfrm>
            <a:off x="533301" y="4353471"/>
            <a:ext cx="12237937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Течение описывают три закона сохранения для бесконечно малого объёма:</a:t>
            </a:r>
            <a:endParaRPr lang="en-US" sz="1125" dirty="0"/>
          </a:p>
        </p:txBody>
      </p:sp>
      <p:sp>
        <p:nvSpPr>
          <p:cNvPr id="11" name="Shape 8"/>
          <p:cNvSpPr/>
          <p:nvPr/>
        </p:nvSpPr>
        <p:spPr>
          <a:xfrm>
            <a:off x="533301" y="4650259"/>
            <a:ext cx="3606850" cy="871513"/>
          </a:xfrm>
          <a:prstGeom prst="roundRect">
            <a:avLst>
              <a:gd name="adj" fmla="val 1092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2" name="Shape 9"/>
          <p:cNvSpPr/>
          <p:nvPr/>
        </p:nvSpPr>
        <p:spPr>
          <a:xfrm>
            <a:off x="533301" y="4650259"/>
            <a:ext cx="3606850" cy="23813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742776" y="4864571"/>
            <a:ext cx="3506688" cy="284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Масса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742776" y="5148709"/>
            <a:ext cx="3506688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уравнение неразрывности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4292451" y="4650259"/>
            <a:ext cx="3606973" cy="871513"/>
          </a:xfrm>
          <a:prstGeom prst="roundRect">
            <a:avLst>
              <a:gd name="adj" fmla="val 1092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Shape 13"/>
          <p:cNvSpPr/>
          <p:nvPr/>
        </p:nvSpPr>
        <p:spPr>
          <a:xfrm>
            <a:off x="4292451" y="4650259"/>
            <a:ext cx="3606973" cy="23813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4501927" y="4864571"/>
            <a:ext cx="3506824" cy="284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4501927" y="5148709"/>
            <a:ext cx="3506824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уравнения Навье–Стокса</a:t>
            </a:r>
            <a:endParaRPr lang="en-US" sz="1125" dirty="0"/>
          </a:p>
        </p:txBody>
      </p:sp>
      <p:sp>
        <p:nvSpPr>
          <p:cNvPr id="19" name="Shape 16"/>
          <p:cNvSpPr/>
          <p:nvPr/>
        </p:nvSpPr>
        <p:spPr>
          <a:xfrm>
            <a:off x="8051725" y="4650259"/>
            <a:ext cx="3606973" cy="871513"/>
          </a:xfrm>
          <a:prstGeom prst="roundRect">
            <a:avLst>
              <a:gd name="adj" fmla="val 10929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Shape 17"/>
          <p:cNvSpPr/>
          <p:nvPr/>
        </p:nvSpPr>
        <p:spPr>
          <a:xfrm>
            <a:off x="8051725" y="4650259"/>
            <a:ext cx="3606973" cy="23813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8"/>
          <p:cNvSpPr/>
          <p:nvPr/>
        </p:nvSpPr>
        <p:spPr>
          <a:xfrm>
            <a:off x="8261201" y="4864571"/>
            <a:ext cx="3506824" cy="2841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Энергия</a:t>
            </a:r>
            <a:endParaRPr lang="en-US" sz="1650" dirty="0"/>
          </a:p>
        </p:txBody>
      </p:sp>
      <p:sp>
        <p:nvSpPr>
          <p:cNvPr id="22" name="Text 19"/>
          <p:cNvSpPr/>
          <p:nvPr/>
        </p:nvSpPr>
        <p:spPr>
          <a:xfrm>
            <a:off x="8261201" y="5148709"/>
            <a:ext cx="3506824" cy="220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тепла</a:t>
            </a:r>
            <a:endParaRPr lang="en-US" sz="1125" dirty="0"/>
          </a:p>
        </p:txBody>
      </p:sp>
      <p:sp>
        <p:nvSpPr>
          <p:cNvPr id="23" name="Shape 20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1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17</a:t>
            </a:r>
            <a:endParaRPr lang="en-US" sz="9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1CBF4F3E-45C8-4EB1-9510-D710E2A05D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428267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МАССЫ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4282678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Уравнение неразрывности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533301" y="2763986"/>
            <a:ext cx="5898914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Общий вид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3301" y="3017986"/>
            <a:ext cx="5362649" cy="914301"/>
          </a:xfrm>
          <a:prstGeom prst="roundRect">
            <a:avLst>
              <a:gd name="adj" fmla="val 10418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789" y="3218036"/>
            <a:ext cx="2819673" cy="51420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301" y="4065612"/>
            <a:ext cx="5523529" cy="48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— плотность,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скорость, t — время. Первое слагаемое — изменение массы в точке, второе —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перенос потоком (конвекция)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295926" y="2874615"/>
            <a:ext cx="5899051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Несжимаемое течение (ρ = const)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6295926" y="3128615"/>
            <a:ext cx="5362773" cy="914301"/>
          </a:xfrm>
          <a:prstGeom prst="roundRect">
            <a:avLst>
              <a:gd name="adj" fmla="val 10418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191" y="3357190"/>
            <a:ext cx="2128242" cy="45702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95926" y="4176241"/>
            <a:ext cx="5899051" cy="2593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Уравнение упрощается до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условия бездивергентности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поля скорости.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533301" y="5620122"/>
            <a:ext cx="11125398" cy="674439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0"/>
          <p:cNvSpPr/>
          <p:nvPr/>
        </p:nvSpPr>
        <p:spPr>
          <a:xfrm>
            <a:off x="533301" y="5620122"/>
            <a:ext cx="23813" cy="674439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1"/>
          <p:cNvSpPr/>
          <p:nvPr/>
        </p:nvSpPr>
        <p:spPr>
          <a:xfrm>
            <a:off x="747613" y="5753472"/>
            <a:ext cx="11054347" cy="44583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125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БПЛА: </a:t>
            </a:r>
            <a:r>
              <a:rPr lang="en-US" sz="1125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крейсер 20–40 м/с → Ma ≈ 0,06–0,12 → течение несжимаемо с погрешностью в доли процента. Сжимаемость учитывают лишь у быстрых аппаратов и концов винтов.</a:t>
            </a:r>
            <a:endParaRPr lang="en-US" sz="1125" dirty="0"/>
          </a:p>
        </p:txBody>
      </p:sp>
      <p:sp>
        <p:nvSpPr>
          <p:cNvPr id="17" name="Shape 12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3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17</a:t>
            </a:r>
            <a:endParaRPr lang="en-US" sz="900" dirty="0"/>
          </a:p>
        </p:txBody>
      </p:sp>
      <p:pic>
        <p:nvPicPr>
          <p:cNvPr id="20" name="Image 0" descr="preencoded.png">
            <a:extLst>
              <a:ext uri="{FF2B5EF4-FFF2-40B4-BE49-F238E27FC236}">
                <a16:creationId xmlns:a16="http://schemas.microsoft.com/office/drawing/2014/main" id="{64B0E7E1-FFF3-EAE7-0352-331BE6EB2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413029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СОХРАНЕНИЕ ИМПУЛЬСА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4130290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Уравнения Навье–Стокса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2726903"/>
            <a:ext cx="11125398" cy="1139527"/>
          </a:xfrm>
          <a:prstGeom prst="roundRect">
            <a:avLst>
              <a:gd name="adj" fmla="val 10030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600" y="3001491"/>
            <a:ext cx="6216675" cy="59035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3301" y="4228331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704577" y="4152181"/>
            <a:ext cx="5356950" cy="533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Слева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инерция: нестационарное и конвективное ускорение частицы среды.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6286500" y="4228331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6457776" y="4152181"/>
            <a:ext cx="5356950" cy="533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Справа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силы: градиент давления, вязкие напряжения (μ — динамическая вязкость), массовые силы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33301" y="4876229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704577" y="4800079"/>
            <a:ext cx="5356950" cy="533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«неразрывность + Навье–Стокс» — для несжимаемого течения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уравнения на 4 неизвестных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(3 скорости + давление).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86500" y="4876229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1"/>
          <p:cNvSpPr/>
          <p:nvPr/>
        </p:nvSpPr>
        <p:spPr>
          <a:xfrm>
            <a:off x="6457776" y="4800079"/>
            <a:ext cx="5356950" cy="5336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Полностью описывает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ламинарное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течение. Аналитика — редкие случаи, поэтому решают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численно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3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17</a:t>
            </a:r>
            <a:endParaRPr lang="en-US" sz="90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7716C730-005A-47AF-F109-F71BDD0ED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424270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КРИТЕРИИ ПОДОБИЯ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4242705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Числа Рейнольдса и Маха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1728142"/>
            <a:ext cx="5448349" cy="1788914"/>
          </a:xfrm>
          <a:prstGeom prst="roundRect">
            <a:avLst>
              <a:gd name="adj" fmla="val 5324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50714" y="1907480"/>
            <a:ext cx="55148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Рейнольдса — инерция / вязкость</a:t>
            </a:r>
            <a:endParaRPr lang="en-US" sz="1125" dirty="0"/>
          </a:p>
        </p:txBody>
      </p:sp>
      <p:sp>
        <p:nvSpPr>
          <p:cNvPr id="8" name="Shape 5"/>
          <p:cNvSpPr/>
          <p:nvPr/>
        </p:nvSpPr>
        <p:spPr>
          <a:xfrm>
            <a:off x="750714" y="2188393"/>
            <a:ext cx="5013523" cy="704825"/>
          </a:xfrm>
          <a:prstGeom prst="roundRect">
            <a:avLst>
              <a:gd name="adj" fmla="val 1081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2799" y="2321843"/>
            <a:ext cx="2209354" cy="43792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0714" y="2988469"/>
            <a:ext cx="5163929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— скорость, L — характерный размер (хорда), ν = μ/ρ — кинематическая вязкость. </a:t>
            </a:r>
            <a:r>
              <a:rPr lang="en-US" sz="10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критерий для БПЛА.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33301" y="3707557"/>
            <a:ext cx="5448349" cy="1614289"/>
          </a:xfrm>
          <a:prstGeom prst="roundRect">
            <a:avLst>
              <a:gd name="adj" fmla="val 5900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8"/>
          <p:cNvSpPr/>
          <p:nvPr/>
        </p:nvSpPr>
        <p:spPr>
          <a:xfrm>
            <a:off x="750714" y="3886894"/>
            <a:ext cx="55148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Маха — роль сжимаемости</a:t>
            </a:r>
            <a:endParaRPr lang="en-US" sz="1125" dirty="0"/>
          </a:p>
        </p:txBody>
      </p:sp>
      <p:sp>
        <p:nvSpPr>
          <p:cNvPr id="13" name="Shape 9"/>
          <p:cNvSpPr/>
          <p:nvPr/>
        </p:nvSpPr>
        <p:spPr>
          <a:xfrm>
            <a:off x="750714" y="4167808"/>
            <a:ext cx="5013523" cy="704825"/>
          </a:xfrm>
          <a:prstGeom prst="roundRect">
            <a:avLst>
              <a:gd name="adj" fmla="val 10811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0212" y="4301257"/>
            <a:ext cx="1774527" cy="43792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0714" y="4967883"/>
            <a:ext cx="5514875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— скорость звука. Малое Ma → течение несжимаемо.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210226" y="1728142"/>
            <a:ext cx="5448473" cy="4566419"/>
          </a:xfrm>
          <a:prstGeom prst="roundRect">
            <a:avLst>
              <a:gd name="adj" fmla="val 25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2"/>
          <p:cNvSpPr/>
          <p:nvPr/>
        </p:nvSpPr>
        <p:spPr>
          <a:xfrm>
            <a:off x="6534051" y="2683247"/>
            <a:ext cx="5280906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kern="0" spc="105" dirty="0">
                <a:solidFill>
                  <a:srgbClr val="AEB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1 · КРЫЛО БПЛА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6534051" y="3013397"/>
            <a:ext cx="5280906" cy="269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Хорда L = 0,25 м · скорость U = 25 м/с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34051" y="3339951"/>
            <a:ext cx="5280906" cy="2694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Воздух у земли: ν = 1,5·10⁻⁵ м²/с · a ≈ 340 м/с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534051" y="3780730"/>
            <a:ext cx="4800823" cy="9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6534051" y="3999632"/>
            <a:ext cx="2442976" cy="4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≈ 4,2·10⁵</a:t>
            </a:r>
            <a:endParaRPr lang="en-US" sz="3150" dirty="0"/>
          </a:p>
        </p:txBody>
      </p:sp>
      <p:sp>
        <p:nvSpPr>
          <p:cNvPr id="22" name="Text 17"/>
          <p:cNvSpPr/>
          <p:nvPr/>
        </p:nvSpPr>
        <p:spPr>
          <a:xfrm>
            <a:off x="6534051" y="4456782"/>
            <a:ext cx="244297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EB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U·L / ν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6534051" y="4802807"/>
            <a:ext cx="5280906" cy="342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≈ 0,07</a:t>
            </a:r>
            <a:endParaRPr lang="en-US" sz="2400" dirty="0"/>
          </a:p>
        </p:txBody>
      </p:sp>
      <p:sp>
        <p:nvSpPr>
          <p:cNvPr id="24" name="Text 19"/>
          <p:cNvSpPr/>
          <p:nvPr/>
        </p:nvSpPr>
        <p:spPr>
          <a:xfrm>
            <a:off x="6534051" y="5164708"/>
            <a:ext cx="5280906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AEB4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U / a → несжимаемо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6" name="Text 21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17</a:t>
            </a:r>
            <a:endParaRPr lang="en-US" sz="900" dirty="0"/>
          </a:p>
        </p:txBody>
      </p:sp>
      <p:pic>
        <p:nvPicPr>
          <p:cNvPr id="28" name="Image 0" descr="preencoded.png">
            <a:extLst>
              <a:ext uri="{FF2B5EF4-FFF2-40B4-BE49-F238E27FC236}">
                <a16:creationId xmlns:a16="http://schemas.microsoft.com/office/drawing/2014/main" id="{291FC0F5-CCFC-2570-AC9C-C74D62B990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531883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РЕЖИМ ОБТЕКАНИЯ БПЛА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5318832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Малые Re и ламинарный пузырь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2716733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04577" y="2640583"/>
            <a:ext cx="5620359" cy="5525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~ сотни тысяч — </a:t>
            </a:r>
            <a:r>
              <a:rPr lang="en-US" sz="14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умеренно низкий (переходный) </a:t>
            </a: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диапазон, заметно ниже «большой» авиации (Re крыла 10⁶–10⁷).</a:t>
            </a:r>
            <a:endParaRPr lang="en-US" sz="1425" dirty="0"/>
          </a:p>
        </p:txBody>
      </p:sp>
      <p:sp>
        <p:nvSpPr>
          <p:cNvPr id="8" name="Shape 5"/>
          <p:cNvSpPr/>
          <p:nvPr/>
        </p:nvSpPr>
        <p:spPr>
          <a:xfrm>
            <a:off x="533301" y="3364508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704577" y="3288357"/>
            <a:ext cx="5620359" cy="8137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Пограничный слой долго остаётся </a:t>
            </a:r>
            <a:r>
              <a:rPr lang="en-US" sz="14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ламинарным </a:t>
            </a: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возможны ламинарный отрыв с образованием </a:t>
            </a:r>
            <a:r>
              <a:rPr lang="en-US" sz="14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отрывного пузыря </a:t>
            </a: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ранний срыв.</a:t>
            </a:r>
            <a:endParaRPr lang="en-US" sz="1425" dirty="0"/>
          </a:p>
        </p:txBody>
      </p:sp>
      <p:sp>
        <p:nvSpPr>
          <p:cNvPr id="10" name="Shape 7"/>
          <p:cNvSpPr/>
          <p:nvPr/>
        </p:nvSpPr>
        <p:spPr>
          <a:xfrm>
            <a:off x="533301" y="4273475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04577" y="4197325"/>
            <a:ext cx="5620359" cy="5446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Чем меньше Re — тем резче эффекты (сильнее всего у микро-БПЛА, Re ~ 10⁴–10⁵).</a:t>
            </a:r>
            <a:endParaRPr lang="en-US" sz="1425" dirty="0"/>
          </a:p>
        </p:txBody>
      </p:sp>
      <p:sp>
        <p:nvSpPr>
          <p:cNvPr id="12" name="Shape 9"/>
          <p:cNvSpPr/>
          <p:nvPr/>
        </p:nvSpPr>
        <p:spPr>
          <a:xfrm>
            <a:off x="533301" y="4894213"/>
            <a:ext cx="5627936" cy="487908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533301" y="4894213"/>
            <a:ext cx="23813" cy="487908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728563" y="5027563"/>
            <a:ext cx="5430061" cy="2593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Поэтому профили и их расчёт для БПЛА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отличаются </a:t>
            </a:r>
            <a:r>
              <a:rPr lang="en-US" sz="1200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от «большой» авиации.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42236" y="5548808"/>
            <a:ext cx="562810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Реальный снимок или схема визуализации. Под изображением — подпись и источник.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17</a:t>
            </a:r>
            <a:endParaRPr lang="en-US" sz="90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7F2FF240-0E7D-98A5-9817-6BB70498C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56697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ТУРБУЛЕНТНОСТЬ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566971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Подходы к расчёту турбулентности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533301" y="1690067"/>
            <a:ext cx="8084415" cy="765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 больших числах Рейнольдса течение становится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турбулентным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хаотическим, вихревым, с широким спектром масштабов. Разрешить все масштабы напрямую для реальных аппаратов невозможно.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33301" y="2627064"/>
            <a:ext cx="3594199" cy="3648397"/>
          </a:xfrm>
          <a:prstGeom prst="roundRect">
            <a:avLst>
              <a:gd name="adj" fmla="val 3180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769813" y="2844478"/>
            <a:ext cx="34332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DNS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9813" y="3134940"/>
            <a:ext cx="343329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прямое численное моделирование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69813" y="3442890"/>
            <a:ext cx="3214809" cy="693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Разрешает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все масштабы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вихрей напрямую. Для реальных аппаратов </a:t>
            </a:r>
            <a:r>
              <a:rPr lang="en-US" sz="1200" b="1" dirty="0">
                <a:solidFill>
                  <a:srgbClr val="B03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невозможно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вычислительным затратам.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8900" y="2627064"/>
            <a:ext cx="3594199" cy="3648397"/>
          </a:xfrm>
          <a:prstGeom prst="roundRect">
            <a:avLst>
              <a:gd name="adj" fmla="val 3180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2" name="Text 9"/>
          <p:cNvSpPr/>
          <p:nvPr/>
        </p:nvSpPr>
        <p:spPr>
          <a:xfrm>
            <a:off x="4535413" y="2844478"/>
            <a:ext cx="343329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35413" y="3134940"/>
            <a:ext cx="3433291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крупных вихрей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535413" y="3442890"/>
            <a:ext cx="3214809" cy="4806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Разрешает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крупные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вихри, моделирует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мелкие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Дорог — применяется выборочно.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064500" y="2627064"/>
            <a:ext cx="3594199" cy="3648397"/>
          </a:xfrm>
          <a:prstGeom prst="roundRect">
            <a:avLst>
              <a:gd name="adj" fmla="val 3180"/>
            </a:avLst>
          </a:prstGeom>
          <a:solidFill>
            <a:srgbClr val="F4F6FB"/>
          </a:solidFill>
          <a:ln w="15875">
            <a:solidFill>
              <a:srgbClr val="00008F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8308950" y="2852415"/>
            <a:ext cx="71132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9039324" y="2895327"/>
            <a:ext cx="609451" cy="176113"/>
          </a:xfrm>
          <a:prstGeom prst="roundRect">
            <a:avLst>
              <a:gd name="adj" fmla="val 50000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8" name="Text 15"/>
          <p:cNvSpPr/>
          <p:nvPr/>
        </p:nvSpPr>
        <p:spPr>
          <a:xfrm>
            <a:off x="9115524" y="2923902"/>
            <a:ext cx="533251" cy="1570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основной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8308950" y="3142878"/>
            <a:ext cx="341582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осреднённые по Рейнольдсу уравнения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308950" y="3450828"/>
            <a:ext cx="3198458" cy="693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Рассчитывают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осреднённое течение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влияние турбулентности учитывают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моделью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Стандарт инженерной практики.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17</a:t>
            </a:r>
            <a:endParaRPr lang="en-US" sz="900" dirty="0"/>
          </a:p>
        </p:txBody>
      </p:sp>
      <p:pic>
        <p:nvPicPr>
          <p:cNvPr id="24" name="Image 0" descr="preencoded.png">
            <a:extLst>
              <a:ext uri="{FF2B5EF4-FFF2-40B4-BE49-F238E27FC236}">
                <a16:creationId xmlns:a16="http://schemas.microsoft.com/office/drawing/2014/main" id="{DA67C9EA-86CD-E9B9-596B-D4D93909AC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530832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ОСРЕДНЕНИЕ ПО РЕЙНОЛЬДСУ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530832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 и напряжения Рейнольдса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533301" y="2948657"/>
            <a:ext cx="509413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Разложение на среднее и пульсацию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33301" y="3183557"/>
            <a:ext cx="4631035" cy="762000"/>
          </a:xfrm>
          <a:prstGeom prst="roundRect">
            <a:avLst>
              <a:gd name="adj" fmla="val 12500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1386" y="3355082"/>
            <a:ext cx="2334741" cy="41895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2911" y="2948657"/>
            <a:ext cx="6892367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Уравнения RANS — напряжения Рейнольдса (последний член)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5392911" y="3183557"/>
            <a:ext cx="6265788" cy="796603"/>
          </a:xfrm>
          <a:prstGeom prst="roundRect">
            <a:avLst>
              <a:gd name="adj" fmla="val 11957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5709" y="3343796"/>
            <a:ext cx="3960192" cy="476126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533301" y="4189636"/>
            <a:ext cx="11125398" cy="865187"/>
          </a:xfrm>
          <a:prstGeom prst="roundRect">
            <a:avLst>
              <a:gd name="adj" fmla="val 11009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8"/>
          <p:cNvSpPr/>
          <p:nvPr/>
        </p:nvSpPr>
        <p:spPr>
          <a:xfrm>
            <a:off x="742851" y="4361086"/>
            <a:ext cx="11040060" cy="5603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 замыкания. </a:t>
            </a:r>
            <a:r>
              <a:rPr lang="en-US" sz="1425" dirty="0">
                <a:solidFill>
                  <a:srgbClr val="FFFFFF"/>
                </a:solidFill>
                <a:highlight>
                  <a:srgbClr val="00008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Напряжения Рейнольдса — новые неизвестные, уравнений для них нет. Систему нужно «замкнуть» </a:t>
            </a:r>
            <a:r>
              <a:rPr lang="en-US" sz="1425" b="1" dirty="0">
                <a:solidFill>
                  <a:srgbClr val="D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моделью турбулентности </a:t>
            </a:r>
            <a:r>
              <a:rPr lang="en-US" sz="1425" dirty="0">
                <a:solidFill>
                  <a:srgbClr val="FFFFFF"/>
                </a:solidFill>
                <a:highlight>
                  <a:srgbClr val="00008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25" dirty="0"/>
          </a:p>
        </p:txBody>
      </p:sp>
      <p:sp>
        <p:nvSpPr>
          <p:cNvPr id="14" name="Shape 9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0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17</a:t>
            </a:r>
            <a:endParaRPr lang="en-US" sz="900" dirty="0"/>
          </a:p>
        </p:txBody>
      </p:sp>
      <p:pic>
        <p:nvPicPr>
          <p:cNvPr id="17" name="Image 0" descr="preencoded.png">
            <a:extLst>
              <a:ext uri="{FF2B5EF4-FFF2-40B4-BE49-F238E27FC236}">
                <a16:creationId xmlns:a16="http://schemas.microsoft.com/office/drawing/2014/main" id="{19E47C96-5388-B063-36B8-920B157A57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752450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884163"/>
            <a:ext cx="710641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ЗАМЫКАНИЕ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084089"/>
            <a:ext cx="7106419" cy="35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Буссинеска и модели турбулентности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533301" y="1555254"/>
            <a:ext cx="48972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Гипотеза Буссинеска</a:t>
            </a:r>
            <a:endParaRPr lang="en-US" sz="975" dirty="0"/>
          </a:p>
        </p:txBody>
      </p:sp>
      <p:sp>
        <p:nvSpPr>
          <p:cNvPr id="7" name="Shape 4"/>
          <p:cNvSpPr/>
          <p:nvPr/>
        </p:nvSpPr>
        <p:spPr>
          <a:xfrm>
            <a:off x="533301" y="1764729"/>
            <a:ext cx="4452069" cy="663277"/>
          </a:xfrm>
          <a:prstGeom prst="roundRect">
            <a:avLst>
              <a:gd name="adj" fmla="val 12924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4626" y="1896442"/>
            <a:ext cx="3169419" cy="3998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3301" y="2504157"/>
            <a:ext cx="4585631" cy="372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μ_t — турбулентная (вихревая) вязкость, k — энергия турбулентности, δ_ij — символ Кронекера. Модель даёт способ вычислить μ_t.</a:t>
            </a:r>
            <a:endParaRPr lang="en-US" sz="975" dirty="0"/>
          </a:p>
        </p:txBody>
      </p:sp>
      <p:sp>
        <p:nvSpPr>
          <p:cNvPr id="10" name="Text 6"/>
          <p:cNvSpPr/>
          <p:nvPr/>
        </p:nvSpPr>
        <p:spPr>
          <a:xfrm>
            <a:off x="533301" y="2971601"/>
            <a:ext cx="48972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Лимитер сдвиговых напряжений (SST)</a:t>
            </a:r>
            <a:endParaRPr lang="en-US" sz="975" dirty="0"/>
          </a:p>
        </p:txBody>
      </p:sp>
      <p:sp>
        <p:nvSpPr>
          <p:cNvPr id="11" name="Shape 7"/>
          <p:cNvSpPr/>
          <p:nvPr/>
        </p:nvSpPr>
        <p:spPr>
          <a:xfrm>
            <a:off x="533301" y="3181077"/>
            <a:ext cx="4452069" cy="606103"/>
          </a:xfrm>
          <a:prstGeom prst="roundRect">
            <a:avLst>
              <a:gd name="adj" fmla="val 14144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748" y="3293690"/>
            <a:ext cx="1835175" cy="380876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252020" y="1555254"/>
            <a:ext cx="6406679" cy="338584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9"/>
          <p:cNvSpPr/>
          <p:nvPr/>
        </p:nvSpPr>
        <p:spPr>
          <a:xfrm>
            <a:off x="5356795" y="1640979"/>
            <a:ext cx="904230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</a:t>
            </a:r>
            <a:endParaRPr lang="en-US" sz="1013" dirty="0"/>
          </a:p>
        </p:txBody>
      </p:sp>
      <p:sp>
        <p:nvSpPr>
          <p:cNvPr id="15" name="Text 10"/>
          <p:cNvSpPr/>
          <p:nvPr/>
        </p:nvSpPr>
        <p:spPr>
          <a:xfrm>
            <a:off x="6327700" y="1640979"/>
            <a:ext cx="259283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Ур.</a:t>
            </a:r>
            <a:endParaRPr lang="en-US" sz="1013" dirty="0"/>
          </a:p>
        </p:txBody>
      </p:sp>
      <p:sp>
        <p:nvSpPr>
          <p:cNvPr id="16" name="Text 11"/>
          <p:cNvSpPr/>
          <p:nvPr/>
        </p:nvSpPr>
        <p:spPr>
          <a:xfrm>
            <a:off x="6729859" y="1640979"/>
            <a:ext cx="2112714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Сильные стороны</a:t>
            </a:r>
            <a:endParaRPr lang="en-US" sz="1013" dirty="0"/>
          </a:p>
        </p:txBody>
      </p:sp>
      <p:sp>
        <p:nvSpPr>
          <p:cNvPr id="17" name="Text 12"/>
          <p:cNvSpPr/>
          <p:nvPr/>
        </p:nvSpPr>
        <p:spPr>
          <a:xfrm>
            <a:off x="8975923" y="1640979"/>
            <a:ext cx="2661627" cy="20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 для БПЛА</a:t>
            </a:r>
            <a:endParaRPr lang="en-US" sz="1013" dirty="0"/>
          </a:p>
        </p:txBody>
      </p:sp>
      <p:sp>
        <p:nvSpPr>
          <p:cNvPr id="18" name="Shape 13"/>
          <p:cNvSpPr/>
          <p:nvPr/>
        </p:nvSpPr>
        <p:spPr>
          <a:xfrm>
            <a:off x="5252020" y="2414736"/>
            <a:ext cx="6406679" cy="9525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4"/>
          <p:cNvSpPr/>
          <p:nvPr/>
        </p:nvSpPr>
        <p:spPr>
          <a:xfrm>
            <a:off x="5356795" y="1989088"/>
            <a:ext cx="904230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Spalart–Allmaras</a:t>
            </a:r>
            <a:endParaRPr lang="en-US" sz="1013" dirty="0"/>
          </a:p>
        </p:txBody>
      </p:sp>
      <p:sp>
        <p:nvSpPr>
          <p:cNvPr id="20" name="Text 15"/>
          <p:cNvSpPr/>
          <p:nvPr/>
        </p:nvSpPr>
        <p:spPr>
          <a:xfrm>
            <a:off x="6327700" y="1989088"/>
            <a:ext cx="259283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13" dirty="0"/>
          </a:p>
        </p:txBody>
      </p:sp>
      <p:sp>
        <p:nvSpPr>
          <p:cNvPr id="21" name="Text 16"/>
          <p:cNvSpPr/>
          <p:nvPr/>
        </p:nvSpPr>
        <p:spPr>
          <a:xfrm>
            <a:off x="6729859" y="1989088"/>
            <a:ext cx="2112714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дёшева, хороша для внешнего обтекания крыла</a:t>
            </a:r>
            <a:endParaRPr lang="en-US" sz="1013" dirty="0"/>
          </a:p>
        </p:txBody>
      </p:sp>
      <p:sp>
        <p:nvSpPr>
          <p:cNvPr id="22" name="Text 17"/>
          <p:cNvSpPr/>
          <p:nvPr/>
        </p:nvSpPr>
        <p:spPr>
          <a:xfrm>
            <a:off x="8975923" y="1989088"/>
            <a:ext cx="2661627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хуже при сильном отрыве и струях</a:t>
            </a:r>
            <a:endParaRPr lang="en-US" sz="1013" dirty="0"/>
          </a:p>
        </p:txBody>
      </p:sp>
      <p:sp>
        <p:nvSpPr>
          <p:cNvPr id="23" name="Shape 18"/>
          <p:cNvSpPr/>
          <p:nvPr/>
        </p:nvSpPr>
        <p:spPr>
          <a:xfrm>
            <a:off x="5252020" y="2422674"/>
            <a:ext cx="6406679" cy="532805"/>
          </a:xfrm>
          <a:prstGeom prst="rect">
            <a:avLst/>
          </a:prstGeom>
          <a:solidFill>
            <a:srgbClr val="FAFBFE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Shape 19"/>
          <p:cNvSpPr/>
          <p:nvPr/>
        </p:nvSpPr>
        <p:spPr>
          <a:xfrm>
            <a:off x="5252020" y="2947541"/>
            <a:ext cx="6406679" cy="9525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0"/>
          <p:cNvSpPr/>
          <p:nvPr/>
        </p:nvSpPr>
        <p:spPr>
          <a:xfrm>
            <a:off x="5356795" y="2517924"/>
            <a:ext cx="904230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k–ε</a:t>
            </a:r>
            <a:endParaRPr lang="en-US" sz="1013" dirty="0"/>
          </a:p>
        </p:txBody>
      </p:sp>
      <p:sp>
        <p:nvSpPr>
          <p:cNvPr id="26" name="Text 21"/>
          <p:cNvSpPr/>
          <p:nvPr/>
        </p:nvSpPr>
        <p:spPr>
          <a:xfrm>
            <a:off x="6327700" y="2517924"/>
            <a:ext cx="259283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3" dirty="0"/>
          </a:p>
        </p:txBody>
      </p:sp>
      <p:sp>
        <p:nvSpPr>
          <p:cNvPr id="27" name="Text 22"/>
          <p:cNvSpPr/>
          <p:nvPr/>
        </p:nvSpPr>
        <p:spPr>
          <a:xfrm>
            <a:off x="6729859" y="2517924"/>
            <a:ext cx="2112714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устойчива, хороша вдали от стенок</a:t>
            </a:r>
            <a:endParaRPr lang="en-US" sz="1013" dirty="0"/>
          </a:p>
        </p:txBody>
      </p:sp>
      <p:sp>
        <p:nvSpPr>
          <p:cNvPr id="28" name="Text 23"/>
          <p:cNvSpPr/>
          <p:nvPr/>
        </p:nvSpPr>
        <p:spPr>
          <a:xfrm>
            <a:off x="8975923" y="2517924"/>
            <a:ext cx="2661627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плохо у стенки и при отрыве, нужны пристеночные функции</a:t>
            </a:r>
            <a:endParaRPr lang="en-US" sz="1013" dirty="0"/>
          </a:p>
        </p:txBody>
      </p:sp>
      <p:sp>
        <p:nvSpPr>
          <p:cNvPr id="29" name="Shape 24"/>
          <p:cNvSpPr/>
          <p:nvPr/>
        </p:nvSpPr>
        <p:spPr>
          <a:xfrm>
            <a:off x="5252020" y="3480346"/>
            <a:ext cx="6406679" cy="9525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5"/>
          <p:cNvSpPr/>
          <p:nvPr/>
        </p:nvSpPr>
        <p:spPr>
          <a:xfrm>
            <a:off x="5356795" y="3050728"/>
            <a:ext cx="904230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k–ω</a:t>
            </a:r>
            <a:endParaRPr lang="en-US" sz="1013" dirty="0"/>
          </a:p>
        </p:txBody>
      </p:sp>
      <p:sp>
        <p:nvSpPr>
          <p:cNvPr id="31" name="Text 26"/>
          <p:cNvSpPr/>
          <p:nvPr/>
        </p:nvSpPr>
        <p:spPr>
          <a:xfrm>
            <a:off x="6327700" y="3050728"/>
            <a:ext cx="259283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3" dirty="0"/>
          </a:p>
        </p:txBody>
      </p:sp>
      <p:sp>
        <p:nvSpPr>
          <p:cNvPr id="32" name="Text 27"/>
          <p:cNvSpPr/>
          <p:nvPr/>
        </p:nvSpPr>
        <p:spPr>
          <a:xfrm>
            <a:off x="6729859" y="3050728"/>
            <a:ext cx="2112714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хороша у стенки и при градиенте давления</a:t>
            </a:r>
            <a:endParaRPr lang="en-US" sz="1013" dirty="0"/>
          </a:p>
        </p:txBody>
      </p:sp>
      <p:sp>
        <p:nvSpPr>
          <p:cNvPr id="33" name="Text 28"/>
          <p:cNvSpPr/>
          <p:nvPr/>
        </p:nvSpPr>
        <p:spPr>
          <a:xfrm>
            <a:off x="8975923" y="3050728"/>
            <a:ext cx="2661627" cy="3804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чувствительна к потоку на границе</a:t>
            </a:r>
            <a:endParaRPr lang="en-US" sz="1013" dirty="0"/>
          </a:p>
        </p:txBody>
      </p:sp>
      <p:sp>
        <p:nvSpPr>
          <p:cNvPr id="34" name="Shape 29"/>
          <p:cNvSpPr/>
          <p:nvPr/>
        </p:nvSpPr>
        <p:spPr>
          <a:xfrm>
            <a:off x="5252020" y="3488283"/>
            <a:ext cx="6406679" cy="528836"/>
          </a:xfrm>
          <a:prstGeom prst="rect">
            <a:avLst/>
          </a:prstGeom>
          <a:solidFill>
            <a:srgbClr val="F0F2FC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5" name="Text 30"/>
          <p:cNvSpPr/>
          <p:nvPr/>
        </p:nvSpPr>
        <p:spPr>
          <a:xfrm>
            <a:off x="5356795" y="3583533"/>
            <a:ext cx="904230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k–ω SST ★</a:t>
            </a:r>
            <a:endParaRPr lang="en-US" sz="1013" dirty="0"/>
          </a:p>
        </p:txBody>
      </p:sp>
      <p:sp>
        <p:nvSpPr>
          <p:cNvPr id="36" name="Text 31"/>
          <p:cNvSpPr/>
          <p:nvPr/>
        </p:nvSpPr>
        <p:spPr>
          <a:xfrm>
            <a:off x="6327700" y="3583533"/>
            <a:ext cx="259283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13" dirty="0"/>
          </a:p>
        </p:txBody>
      </p:sp>
      <p:sp>
        <p:nvSpPr>
          <p:cNvPr id="37" name="Text 32"/>
          <p:cNvSpPr/>
          <p:nvPr/>
        </p:nvSpPr>
        <p:spPr>
          <a:xfrm>
            <a:off x="6729859" y="3583533"/>
            <a:ext cx="2112714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k–ω у стенки + k–ε вдали; хорошо ловит отрыв</a:t>
            </a:r>
            <a:endParaRPr lang="en-US" sz="1013" dirty="0"/>
          </a:p>
        </p:txBody>
      </p:sp>
      <p:sp>
        <p:nvSpPr>
          <p:cNvPr id="38" name="Text 33"/>
          <p:cNvSpPr/>
          <p:nvPr/>
        </p:nvSpPr>
        <p:spPr>
          <a:xfrm>
            <a:off x="8975923" y="3583533"/>
            <a:ext cx="2661627" cy="3764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дороже; нужен мелкий пристеночный слой</a:t>
            </a:r>
            <a:endParaRPr lang="en-US" sz="1013" dirty="0"/>
          </a:p>
        </p:txBody>
      </p:sp>
      <p:sp>
        <p:nvSpPr>
          <p:cNvPr id="39" name="Shape 34"/>
          <p:cNvSpPr/>
          <p:nvPr/>
        </p:nvSpPr>
        <p:spPr>
          <a:xfrm>
            <a:off x="5252020" y="4131345"/>
            <a:ext cx="6406679" cy="576957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0" name="Shape 35"/>
          <p:cNvSpPr/>
          <p:nvPr/>
        </p:nvSpPr>
        <p:spPr>
          <a:xfrm>
            <a:off x="5252020" y="4131345"/>
            <a:ext cx="23813" cy="576957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1" name="Text 36"/>
          <p:cNvSpPr/>
          <p:nvPr/>
        </p:nvSpPr>
        <p:spPr>
          <a:xfrm>
            <a:off x="5428233" y="4236120"/>
            <a:ext cx="6270267" cy="405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Рабочая «лошадка» для крыла БПЛА — </a:t>
            </a:r>
            <a:r>
              <a:rPr lang="en-US" sz="101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k–ω SST</a:t>
            </a:r>
            <a:r>
              <a:rPr lang="en-US" sz="1013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На малых Re добавляют </a:t>
            </a:r>
            <a:r>
              <a:rPr lang="en-US" sz="1013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модель перехода </a:t>
            </a:r>
            <a:r>
              <a:rPr lang="en-US" sz="1013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(γ–Re</a:t>
            </a:r>
            <a:r>
              <a:rPr lang="en-US" sz="844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</a:t>
            </a:r>
            <a:r>
              <a:rPr lang="en-US" sz="1013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). Выбор подтверждают валидацией (тема 13).</a:t>
            </a:r>
            <a:endParaRPr lang="en-US" sz="1013" dirty="0"/>
          </a:p>
        </p:txBody>
      </p:sp>
      <p:sp>
        <p:nvSpPr>
          <p:cNvPr id="42" name="Shape 37"/>
          <p:cNvSpPr/>
          <p:nvPr/>
        </p:nvSpPr>
        <p:spPr>
          <a:xfrm>
            <a:off x="533301" y="6437436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3" name="Text 38"/>
          <p:cNvSpPr/>
          <p:nvPr/>
        </p:nvSpPr>
        <p:spPr>
          <a:xfrm>
            <a:off x="11309077" y="6521524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17</a:t>
            </a:r>
            <a:endParaRPr lang="en-US" sz="900" dirty="0"/>
          </a:p>
        </p:txBody>
      </p:sp>
      <p:pic>
        <p:nvPicPr>
          <p:cNvPr id="45" name="Image 0" descr="preencoded.png">
            <a:extLst>
              <a:ext uri="{FF2B5EF4-FFF2-40B4-BE49-F238E27FC236}">
                <a16:creationId xmlns:a16="http://schemas.microsoft.com/office/drawing/2014/main" id="{186311EF-36B3-8A98-A14B-42D39D09DA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752450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884163"/>
            <a:ext cx="640382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КОНЕЧНЫХ ОБЪЁМОВ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084089"/>
            <a:ext cx="6403826" cy="35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Консервативность и схемы дискретизации</a:t>
            </a:r>
            <a:endParaRPr lang="en-US" sz="2325" dirty="0"/>
          </a:p>
        </p:txBody>
      </p:sp>
      <p:sp>
        <p:nvSpPr>
          <p:cNvPr id="6" name="Shape 3"/>
          <p:cNvSpPr/>
          <p:nvPr/>
        </p:nvSpPr>
        <p:spPr>
          <a:xfrm>
            <a:off x="533301" y="2557611"/>
            <a:ext cx="6210845" cy="815578"/>
          </a:xfrm>
          <a:prstGeom prst="roundRect">
            <a:avLst>
              <a:gd name="adj" fmla="val 11679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043" y="2717850"/>
            <a:ext cx="3859237" cy="49510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3301" y="3573115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5"/>
          <p:cNvSpPr/>
          <p:nvPr/>
        </p:nvSpPr>
        <p:spPr>
          <a:xfrm>
            <a:off x="695151" y="3506514"/>
            <a:ext cx="6230465" cy="47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Область разбивают на ячейки (контрольные объёмы); законы сохранения пишут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через потоки величины φ сквозь грани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33301" y="4114354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695151" y="4047753"/>
            <a:ext cx="6230465" cy="474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Консервативен по построению: 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вытекло из ячейки — втекло в соседнюю. Массой, импульсом, энергией ничего не теряется → </a:t>
            </a:r>
            <a:r>
              <a:rPr lang="en-US" sz="12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стандарт промышленного CFD</a:t>
            </a:r>
            <a:r>
              <a:rPr lang="en-US" sz="12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33301" y="4617641"/>
            <a:ext cx="3048248" cy="722064"/>
          </a:xfrm>
          <a:prstGeom prst="roundRect">
            <a:avLst>
              <a:gd name="adj" fmla="val 10553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3" name="Text 9"/>
          <p:cNvSpPr/>
          <p:nvPr/>
        </p:nvSpPr>
        <p:spPr>
          <a:xfrm>
            <a:off x="674563" y="4730254"/>
            <a:ext cx="3042295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Upwind, 1-й порядок</a:t>
            </a:r>
            <a:endParaRPr lang="en-US" sz="1013" dirty="0"/>
          </a:p>
        </p:txBody>
      </p:sp>
      <p:sp>
        <p:nvSpPr>
          <p:cNvPr id="14" name="Text 10"/>
          <p:cNvSpPr/>
          <p:nvPr/>
        </p:nvSpPr>
        <p:spPr>
          <a:xfrm>
            <a:off x="674563" y="4909592"/>
            <a:ext cx="2848694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устойчив, но большая численная диффузия — «размазывает» решение</a:t>
            </a:r>
            <a:endParaRPr lang="en-US" sz="975" dirty="0"/>
          </a:p>
        </p:txBody>
      </p:sp>
      <p:sp>
        <p:nvSpPr>
          <p:cNvPr id="15" name="Shape 11"/>
          <p:cNvSpPr/>
          <p:nvPr/>
        </p:nvSpPr>
        <p:spPr>
          <a:xfrm>
            <a:off x="3695774" y="4617641"/>
            <a:ext cx="3048372" cy="722064"/>
          </a:xfrm>
          <a:prstGeom prst="roundRect">
            <a:avLst>
              <a:gd name="adj" fmla="val 10553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3837037" y="4730254"/>
            <a:ext cx="3042431" cy="18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2-й порядок</a:t>
            </a:r>
            <a:endParaRPr lang="en-US" sz="1013" dirty="0"/>
          </a:p>
        </p:txBody>
      </p:sp>
      <p:sp>
        <p:nvSpPr>
          <p:cNvPr id="17" name="Text 13"/>
          <p:cNvSpPr/>
          <p:nvPr/>
        </p:nvSpPr>
        <p:spPr>
          <a:xfrm>
            <a:off x="3837037" y="4909592"/>
            <a:ext cx="2848822" cy="355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точнее, но возможны осцилляции — нужны ограничители (limiters)</a:t>
            </a:r>
            <a:endParaRPr lang="en-US" sz="975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308" y="2267520"/>
            <a:ext cx="4199930" cy="31432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47446" y="5486921"/>
            <a:ext cx="32316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63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1 — Контрольный объём: потоки через грани ячейки.</a:t>
            </a:r>
            <a:endParaRPr lang="en-US" sz="863" dirty="0"/>
          </a:p>
        </p:txBody>
      </p:sp>
      <p:sp>
        <p:nvSpPr>
          <p:cNvPr id="20" name="Shape 15"/>
          <p:cNvSpPr/>
          <p:nvPr/>
        </p:nvSpPr>
        <p:spPr>
          <a:xfrm>
            <a:off x="533301" y="6437436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11317635" y="6521524"/>
            <a:ext cx="417264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17</a:t>
            </a:r>
            <a:endParaRPr lang="en-US" sz="900" dirty="0"/>
          </a:p>
        </p:txBody>
      </p:sp>
      <p:pic>
        <p:nvPicPr>
          <p:cNvPr id="23" name="Image 0" descr="preencoded.png">
            <a:extLst>
              <a:ext uri="{FF2B5EF4-FFF2-40B4-BE49-F238E27FC236}">
                <a16:creationId xmlns:a16="http://schemas.microsoft.com/office/drawing/2014/main" id="{683BE304-ED3D-A4C0-13C8-144967BDF5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46578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СХОДИМОСТЬ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4657849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Сходимость и число Куранта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2865561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04577" y="2789411"/>
            <a:ext cx="5356950" cy="781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несжимаемых течениях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нет отдельного уравнения для давления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его находят алгоритмами связи давление–скорость (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подобные).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3301" y="3742283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704577" y="3666133"/>
            <a:ext cx="5356950" cy="799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получают итерациями; за сходимостью следят по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невязкам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(остаткам уравнений) и по контролируемым величинам (например, по C </a:t>
            </a:r>
            <a:r>
              <a:rPr lang="en-US" sz="1125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286500" y="2908474"/>
            <a:ext cx="5909419" cy="19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Куранта (CFL) — ограничение шага по времени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86500" y="3162474"/>
            <a:ext cx="5372199" cy="876226"/>
          </a:xfrm>
          <a:prstGeom prst="roundRect">
            <a:avLst>
              <a:gd name="adj" fmla="val 10870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244" y="3372073"/>
            <a:ext cx="2576587" cy="4570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286500" y="4133949"/>
            <a:ext cx="5909419" cy="212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Δt — шаг по времени, Δx — размер ячейки.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33301" y="5565179"/>
            <a:ext cx="5486549" cy="710282"/>
          </a:xfrm>
          <a:prstGeom prst="roundRect">
            <a:avLst>
              <a:gd name="adj" fmla="val 1341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Shape 11"/>
          <p:cNvSpPr/>
          <p:nvPr/>
        </p:nvSpPr>
        <p:spPr>
          <a:xfrm>
            <a:off x="533301" y="5565179"/>
            <a:ext cx="5486549" cy="23813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2"/>
          <p:cNvSpPr/>
          <p:nvPr/>
        </p:nvSpPr>
        <p:spPr>
          <a:xfrm>
            <a:off x="723801" y="5731867"/>
            <a:ext cx="561610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Явные схемы: CFL ≤ 1</a:t>
            </a:r>
            <a:endParaRPr lang="en-US" sz="1125" dirty="0"/>
          </a:p>
        </p:txBody>
      </p:sp>
      <p:sp>
        <p:nvSpPr>
          <p:cNvPr id="17" name="Text 13"/>
          <p:cNvSpPr/>
          <p:nvPr/>
        </p:nvSpPr>
        <p:spPr>
          <a:xfrm>
            <a:off x="723801" y="5946179"/>
            <a:ext cx="5616104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88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Частица за шаг не должна «перепрыгивать» ячейку — условие устойчивости.</a:t>
            </a:r>
            <a:endParaRPr lang="en-US" sz="1088" dirty="0"/>
          </a:p>
        </p:txBody>
      </p:sp>
      <p:sp>
        <p:nvSpPr>
          <p:cNvPr id="18" name="Shape 14"/>
          <p:cNvSpPr/>
          <p:nvPr/>
        </p:nvSpPr>
        <p:spPr>
          <a:xfrm>
            <a:off x="6172150" y="5565179"/>
            <a:ext cx="5486549" cy="710282"/>
          </a:xfrm>
          <a:prstGeom prst="roundRect">
            <a:avLst>
              <a:gd name="adj" fmla="val 1341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Shape 15"/>
          <p:cNvSpPr/>
          <p:nvPr/>
        </p:nvSpPr>
        <p:spPr>
          <a:xfrm>
            <a:off x="6172150" y="5565179"/>
            <a:ext cx="5486549" cy="23813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6"/>
          <p:cNvSpPr/>
          <p:nvPr/>
        </p:nvSpPr>
        <p:spPr>
          <a:xfrm>
            <a:off x="6362650" y="5731867"/>
            <a:ext cx="561610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125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Неявные схемы: большой CFL</a:t>
            </a:r>
            <a:endParaRPr lang="en-US" sz="1125" dirty="0"/>
          </a:p>
        </p:txBody>
      </p:sp>
      <p:sp>
        <p:nvSpPr>
          <p:cNvPr id="21" name="Text 17"/>
          <p:cNvSpPr/>
          <p:nvPr/>
        </p:nvSpPr>
        <p:spPr>
          <a:xfrm>
            <a:off x="6362650" y="5946179"/>
            <a:ext cx="5616104" cy="2245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88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Устойчивы и при больших CFL → в стационарных RANS псевдошаг берут крупнее.</a:t>
            </a:r>
            <a:endParaRPr lang="en-US" sz="1088" dirty="0"/>
          </a:p>
        </p:txBody>
      </p:sp>
      <p:sp>
        <p:nvSpPr>
          <p:cNvPr id="22" name="Shape 18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3" name="Text 19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17</a:t>
            </a:r>
            <a:endParaRPr lang="en-US" sz="90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393967F6-E613-4077-66CA-EC396F4E00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70470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817314"/>
            <a:ext cx="390996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СЕТКИ CFD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017240"/>
            <a:ext cx="3909963" cy="35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Типы сеток и параметр y+</a:t>
            </a:r>
            <a:endParaRPr lang="en-US" sz="2325" dirty="0"/>
          </a:p>
        </p:txBody>
      </p:sp>
      <p:sp>
        <p:nvSpPr>
          <p:cNvPr id="6" name="Shape 3"/>
          <p:cNvSpPr/>
          <p:nvPr/>
        </p:nvSpPr>
        <p:spPr>
          <a:xfrm>
            <a:off x="533301" y="1469430"/>
            <a:ext cx="5419824" cy="2020714"/>
          </a:xfrm>
          <a:prstGeom prst="roundRect">
            <a:avLst>
              <a:gd name="adj" fmla="val 4714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rcRect l="-8614" r="-8614"/>
          <a:stretch/>
        </p:blipFill>
        <p:spPr>
          <a:xfrm>
            <a:off x="674563" y="1591593"/>
            <a:ext cx="5137299" cy="14287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4563" y="3117081"/>
            <a:ext cx="5291418" cy="307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2 — Структурированная · неструктурированная · гибридная. Гибрид (призмы + объём) — частый выбор для крыла.</a:t>
            </a:r>
            <a:endParaRPr lang="en-US" sz="825" dirty="0"/>
          </a:p>
        </p:txBody>
      </p:sp>
      <p:sp>
        <p:nvSpPr>
          <p:cNvPr id="9" name="Shape 5"/>
          <p:cNvSpPr/>
          <p:nvPr/>
        </p:nvSpPr>
        <p:spPr>
          <a:xfrm>
            <a:off x="533301" y="3604369"/>
            <a:ext cx="5419824" cy="1961927"/>
          </a:xfrm>
          <a:prstGeom prst="roundRect">
            <a:avLst>
              <a:gd name="adj" fmla="val 4855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rcRect l="-61677" r="-61677"/>
          <a:stretch/>
        </p:blipFill>
        <p:spPr>
          <a:xfrm>
            <a:off x="674563" y="3726532"/>
            <a:ext cx="5137299" cy="1504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74563" y="5328171"/>
            <a:ext cx="5651028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3 — Призматические слои у поверхности и параметр y+.</a:t>
            </a:r>
            <a:endParaRPr lang="en-US" sz="825" dirty="0"/>
          </a:p>
        </p:txBody>
      </p:sp>
      <p:sp>
        <p:nvSpPr>
          <p:cNvPr id="12" name="Text 7"/>
          <p:cNvSpPr/>
          <p:nvPr/>
        </p:nvSpPr>
        <p:spPr>
          <a:xfrm>
            <a:off x="6238875" y="1469430"/>
            <a:ext cx="5582419" cy="629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стенки скорость резко меняется (условие прилипания). Чтобы это разрешить, строят </a:t>
            </a:r>
            <a:r>
              <a:rPr lang="en-US" sz="11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тонкие призматические слои </a:t>
            </a: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их качество задаёт безразмерное расстояние первой ячейки от стенки:</a:t>
            </a:r>
            <a:endParaRPr lang="en-US" sz="1125" dirty="0"/>
          </a:p>
        </p:txBody>
      </p:sp>
      <p:sp>
        <p:nvSpPr>
          <p:cNvPr id="13" name="Shape 8"/>
          <p:cNvSpPr/>
          <p:nvPr/>
        </p:nvSpPr>
        <p:spPr>
          <a:xfrm>
            <a:off x="6238875" y="2184425"/>
            <a:ext cx="5419824" cy="663277"/>
          </a:xfrm>
          <a:prstGeom prst="roundRect">
            <a:avLst>
              <a:gd name="adj" fmla="val 14361"/>
            </a:avLst>
          </a:prstGeom>
          <a:solidFill>
            <a:srgbClr val="F4F6FB"/>
          </a:solidFill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429" y="2316138"/>
            <a:ext cx="3274715" cy="399852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38875" y="2971477"/>
            <a:ext cx="5419824" cy="303113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0"/>
          <p:cNvSpPr/>
          <p:nvPr/>
        </p:nvSpPr>
        <p:spPr>
          <a:xfrm>
            <a:off x="6343650" y="3047677"/>
            <a:ext cx="1702693" cy="18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Подход</a:t>
            </a:r>
            <a:endParaRPr lang="en-US" sz="1013" dirty="0"/>
          </a:p>
        </p:txBody>
      </p:sp>
      <p:sp>
        <p:nvSpPr>
          <p:cNvPr id="17" name="Text 11"/>
          <p:cNvSpPr/>
          <p:nvPr/>
        </p:nvSpPr>
        <p:spPr>
          <a:xfrm>
            <a:off x="8132068" y="3047677"/>
            <a:ext cx="520824" cy="18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y+</a:t>
            </a:r>
            <a:endParaRPr lang="en-US" sz="1013" dirty="0"/>
          </a:p>
        </p:txBody>
      </p:sp>
      <p:sp>
        <p:nvSpPr>
          <p:cNvPr id="18" name="Text 12"/>
          <p:cNvSpPr/>
          <p:nvPr/>
        </p:nvSpPr>
        <p:spPr>
          <a:xfrm>
            <a:off x="8814817" y="3047677"/>
            <a:ext cx="2827567" cy="18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Суть</a:t>
            </a:r>
            <a:endParaRPr lang="en-US" sz="1013" dirty="0"/>
          </a:p>
        </p:txBody>
      </p:sp>
      <p:sp>
        <p:nvSpPr>
          <p:cNvPr id="19" name="Shape 13"/>
          <p:cNvSpPr/>
          <p:nvPr/>
        </p:nvSpPr>
        <p:spPr>
          <a:xfrm>
            <a:off x="6238875" y="3600772"/>
            <a:ext cx="5419824" cy="9525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0" name="Text 14"/>
          <p:cNvSpPr/>
          <p:nvPr/>
        </p:nvSpPr>
        <p:spPr>
          <a:xfrm>
            <a:off x="6343650" y="3360316"/>
            <a:ext cx="1702693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Разрешение слоя (low-Re)</a:t>
            </a:r>
            <a:endParaRPr lang="en-US" sz="1013" dirty="0"/>
          </a:p>
        </p:txBody>
      </p:sp>
      <p:sp>
        <p:nvSpPr>
          <p:cNvPr id="21" name="Text 15"/>
          <p:cNvSpPr/>
          <p:nvPr/>
        </p:nvSpPr>
        <p:spPr>
          <a:xfrm>
            <a:off x="8132068" y="3360316"/>
            <a:ext cx="520824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</a:t>
            </a:r>
            <a:endParaRPr lang="en-US" sz="1013" dirty="0"/>
          </a:p>
        </p:txBody>
      </p:sp>
      <p:sp>
        <p:nvSpPr>
          <p:cNvPr id="22" name="Text 16"/>
          <p:cNvSpPr/>
          <p:nvPr/>
        </p:nvSpPr>
        <p:spPr>
          <a:xfrm>
            <a:off x="8814817" y="3360316"/>
            <a:ext cx="2827567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 входит в вязкий подслой — точный отрыв</a:t>
            </a:r>
            <a:endParaRPr lang="en-US" sz="1013" dirty="0"/>
          </a:p>
        </p:txBody>
      </p:sp>
      <p:sp>
        <p:nvSpPr>
          <p:cNvPr id="23" name="Text 17"/>
          <p:cNvSpPr/>
          <p:nvPr/>
        </p:nvSpPr>
        <p:spPr>
          <a:xfrm>
            <a:off x="6343650" y="3694435"/>
            <a:ext cx="1702693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13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Пристеночные функции</a:t>
            </a:r>
            <a:endParaRPr lang="en-US" sz="1013" dirty="0"/>
          </a:p>
        </p:txBody>
      </p:sp>
      <p:sp>
        <p:nvSpPr>
          <p:cNvPr id="24" name="Text 18"/>
          <p:cNvSpPr/>
          <p:nvPr/>
        </p:nvSpPr>
        <p:spPr>
          <a:xfrm>
            <a:off x="8132068" y="3694435"/>
            <a:ext cx="520824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01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30–300</a:t>
            </a:r>
            <a:endParaRPr lang="en-US" sz="1013" dirty="0"/>
          </a:p>
        </p:txBody>
      </p:sp>
      <p:sp>
        <p:nvSpPr>
          <p:cNvPr id="25" name="Text 19"/>
          <p:cNvSpPr/>
          <p:nvPr/>
        </p:nvSpPr>
        <p:spPr>
          <a:xfrm>
            <a:off x="8814817" y="3694435"/>
            <a:ext cx="2827567" cy="2007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buNone/>
            </a:pPr>
            <a:r>
              <a:rPr lang="en-US" sz="101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подслой описывают формулами — дешевле</a:t>
            </a:r>
            <a:endParaRPr lang="en-US" sz="1013" dirty="0"/>
          </a:p>
        </p:txBody>
      </p:sp>
      <p:sp>
        <p:nvSpPr>
          <p:cNvPr id="26" name="Shape 20"/>
          <p:cNvSpPr/>
          <p:nvPr/>
        </p:nvSpPr>
        <p:spPr>
          <a:xfrm>
            <a:off x="6238875" y="4066604"/>
            <a:ext cx="5419824" cy="524619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7" name="Shape 21"/>
          <p:cNvSpPr/>
          <p:nvPr/>
        </p:nvSpPr>
        <p:spPr>
          <a:xfrm>
            <a:off x="6238875" y="4066604"/>
            <a:ext cx="23813" cy="524619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8" name="Text 22"/>
          <p:cNvSpPr/>
          <p:nvPr/>
        </p:nvSpPr>
        <p:spPr>
          <a:xfrm>
            <a:off x="6405563" y="4161854"/>
            <a:ext cx="5272856" cy="3722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2: </a:t>
            </a:r>
            <a:r>
              <a:rPr lang="en-US" sz="975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для y+ = 1 при Re ≈ 4,2·10⁵ высота первой ячейки ≈ 0,013 мм. Буферный слой y+ 5–30 — модель работает </a:t>
            </a:r>
            <a:r>
              <a:rPr lang="en-US" sz="97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хуже всего</a:t>
            </a:r>
            <a:r>
              <a:rPr lang="en-US" sz="975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975" dirty="0"/>
          </a:p>
        </p:txBody>
      </p:sp>
      <p:sp>
        <p:nvSpPr>
          <p:cNvPr id="29" name="Shape 23"/>
          <p:cNvSpPr/>
          <p:nvPr/>
        </p:nvSpPr>
        <p:spPr>
          <a:xfrm>
            <a:off x="533301" y="6456412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30" name="Text 24"/>
          <p:cNvSpPr/>
          <p:nvPr/>
        </p:nvSpPr>
        <p:spPr>
          <a:xfrm>
            <a:off x="11309077" y="6540500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17</a:t>
            </a:r>
            <a:endParaRPr lang="en-US" sz="900" dirty="0"/>
          </a:p>
        </p:txBody>
      </p:sp>
      <p:pic>
        <p:nvPicPr>
          <p:cNvPr id="32" name="Image 0" descr="preencoded.png">
            <a:extLst>
              <a:ext uri="{FF2B5EF4-FFF2-40B4-BE49-F238E27FC236}">
                <a16:creationId xmlns:a16="http://schemas.microsoft.com/office/drawing/2014/main" id="{F9A40F6F-29CB-9B1B-060D-BAD8152A89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752450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884163"/>
            <a:ext cx="454734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АЭРОДИНАМИЧЕСКИЕ ХАРАКТЕРИСТИКИ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084089"/>
            <a:ext cx="4547344" cy="3569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32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Коэффициенты, поляра, срыв</a:t>
            </a:r>
            <a:endParaRPr lang="en-US" sz="2325" dirty="0"/>
          </a:p>
        </p:txBody>
      </p:sp>
      <p:sp>
        <p:nvSpPr>
          <p:cNvPr id="6" name="Shape 3"/>
          <p:cNvSpPr/>
          <p:nvPr/>
        </p:nvSpPr>
        <p:spPr>
          <a:xfrm>
            <a:off x="533301" y="2427635"/>
            <a:ext cx="3777258" cy="1077516"/>
          </a:xfrm>
          <a:prstGeom prst="roundRect">
            <a:avLst>
              <a:gd name="adj" fmla="val 7956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655464" y="2549798"/>
            <a:ext cx="388622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Коэффициенты C</a:t>
            </a:r>
            <a:r>
              <a:rPr lang="en-US" sz="781" b="1" baseline="-4000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938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</a:t>
            </a:r>
            <a:r>
              <a:rPr lang="en-US" sz="781" b="1" baseline="-40000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938" dirty="0"/>
          </a:p>
        </p:txBody>
      </p:sp>
      <p:sp>
        <p:nvSpPr>
          <p:cNvPr id="8" name="Shape 5"/>
          <p:cNvSpPr/>
          <p:nvPr/>
        </p:nvSpPr>
        <p:spPr>
          <a:xfrm>
            <a:off x="655464" y="2792636"/>
            <a:ext cx="3532931" cy="590352"/>
          </a:xfrm>
          <a:prstGeom prst="roundRect">
            <a:avLst>
              <a:gd name="adj" fmla="val 11294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846" y="2887886"/>
            <a:ext cx="2836168" cy="39985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4443884" y="2427635"/>
            <a:ext cx="1238250" cy="1077516"/>
          </a:xfrm>
          <a:prstGeom prst="roundRect">
            <a:avLst>
              <a:gd name="adj" fmla="val 7956"/>
            </a:avLst>
          </a:prstGeom>
          <a:ln w="7937">
            <a:solidFill>
              <a:srgbClr val="E4E7F0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11" name="Text 7"/>
          <p:cNvSpPr/>
          <p:nvPr/>
        </p:nvSpPr>
        <p:spPr>
          <a:xfrm>
            <a:off x="4566047" y="2549798"/>
            <a:ext cx="1070124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38" b="1" dirty="0">
                <a:solidFill>
                  <a:srgbClr val="7A7F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K</a:t>
            </a:r>
            <a:endParaRPr lang="en-US" sz="938" dirty="0"/>
          </a:p>
        </p:txBody>
      </p:sp>
      <p:sp>
        <p:nvSpPr>
          <p:cNvPr id="12" name="Shape 8"/>
          <p:cNvSpPr/>
          <p:nvPr/>
        </p:nvSpPr>
        <p:spPr>
          <a:xfrm>
            <a:off x="4566047" y="2760886"/>
            <a:ext cx="993924" cy="552400"/>
          </a:xfrm>
          <a:prstGeom prst="roundRect">
            <a:avLst>
              <a:gd name="adj" fmla="val 12070"/>
            </a:avLst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420" y="2924721"/>
            <a:ext cx="771178" cy="22473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533301" y="3676427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5" name="Text 10"/>
          <p:cNvSpPr/>
          <p:nvPr/>
        </p:nvSpPr>
        <p:spPr>
          <a:xfrm>
            <a:off x="695151" y="3619376"/>
            <a:ext cx="5031383" cy="232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⟂ потоку, D вдоль; q = ½ρU² — скоростной напор, S — площадь в плане.</a:t>
            </a:r>
            <a:endParaRPr lang="en-US" sz="1125" dirty="0"/>
          </a:p>
        </p:txBody>
      </p:sp>
      <p:sp>
        <p:nvSpPr>
          <p:cNvPr id="16" name="Shape 11"/>
          <p:cNvSpPr/>
          <p:nvPr/>
        </p:nvSpPr>
        <p:spPr>
          <a:xfrm>
            <a:off x="533301" y="3956347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2"/>
          <p:cNvSpPr/>
          <p:nvPr/>
        </p:nvSpPr>
        <p:spPr>
          <a:xfrm>
            <a:off x="695151" y="3899297"/>
            <a:ext cx="5136592" cy="454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938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(α) линейна → C</a:t>
            </a:r>
            <a:r>
              <a:rPr lang="en-US" sz="938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max </a:t>
            </a: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r>
              <a:rPr lang="en-US" sz="11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срыв </a:t>
            </a: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На поляре максимум качества — точка касания луча из начала координат.</a:t>
            </a:r>
            <a:endParaRPr lang="en-US" sz="1125" dirty="0"/>
          </a:p>
        </p:txBody>
      </p:sp>
      <p:sp>
        <p:nvSpPr>
          <p:cNvPr id="18" name="Shape 13"/>
          <p:cNvSpPr/>
          <p:nvPr/>
        </p:nvSpPr>
        <p:spPr>
          <a:xfrm>
            <a:off x="533301" y="4458394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4"/>
          <p:cNvSpPr/>
          <p:nvPr/>
        </p:nvSpPr>
        <p:spPr>
          <a:xfrm>
            <a:off x="695151" y="4401344"/>
            <a:ext cx="5136592" cy="4265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6000"/>
              </a:lnSpc>
              <a:buNone/>
            </a:pP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 малых Re проявляется влияние </a:t>
            </a:r>
            <a:r>
              <a:rPr lang="en-US" sz="1125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ламинарного пузыря </a:t>
            </a:r>
            <a:r>
              <a:rPr lang="en-US" sz="1125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локальный рост сопротивления.</a:t>
            </a:r>
            <a:endParaRPr lang="en-US" sz="1125" dirty="0"/>
          </a:p>
        </p:txBody>
      </p:sp>
      <p:sp>
        <p:nvSpPr>
          <p:cNvPr id="20" name="Shape 15"/>
          <p:cNvSpPr/>
          <p:nvPr/>
        </p:nvSpPr>
        <p:spPr>
          <a:xfrm>
            <a:off x="533301" y="4904011"/>
            <a:ext cx="5148833" cy="584895"/>
          </a:xfrm>
          <a:prstGeom prst="roundRect">
            <a:avLst>
              <a:gd name="adj" fmla="val 14656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1" name="Text 16"/>
          <p:cNvSpPr/>
          <p:nvPr/>
        </p:nvSpPr>
        <p:spPr>
          <a:xfrm>
            <a:off x="685701" y="5008786"/>
            <a:ext cx="4998498" cy="413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013" b="1" dirty="0">
                <a:solidFill>
                  <a:srgbClr val="DFE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Пример 3: </a:t>
            </a:r>
            <a:r>
              <a:rPr lang="en-US" sz="1013" dirty="0">
                <a:solidFill>
                  <a:srgbClr val="FFFFFF"/>
                </a:solidFill>
                <a:highlight>
                  <a:srgbClr val="00008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m = 15 кг, S = 0,8 м², U = 25 м/с → L = mg ≈ 147 Н, q ≈ 383 Па →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r>
              <a:rPr lang="en-US" sz="844" b="1" baseline="-40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</a:t>
            </a:r>
            <a:r>
              <a:rPr lang="en-US" sz="101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0,48 </a:t>
            </a:r>
            <a:r>
              <a:rPr lang="en-US" sz="1013" dirty="0">
                <a:solidFill>
                  <a:srgbClr val="FFFFFF"/>
                </a:solidFill>
                <a:highlight>
                  <a:srgbClr val="00008F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(рабочая точка крейсера).</a:t>
            </a:r>
            <a:endParaRPr lang="en-US" sz="1013" dirty="0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7883" y="2648769"/>
            <a:ext cx="5690567" cy="23780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11864" y="5102944"/>
            <a:ext cx="2802731" cy="20280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ctr">
              <a:buNone/>
            </a:pPr>
            <a:r>
              <a:rPr lang="en-US" sz="863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Рисунок 4 — Кривая C</a:t>
            </a:r>
            <a:r>
              <a:rPr lang="en-US" sz="719" baseline="-40000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863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(α) со срывом и поляра C</a:t>
            </a:r>
            <a:r>
              <a:rPr lang="en-US" sz="719" baseline="-40000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863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</a:t>
            </a:r>
            <a:r>
              <a:rPr lang="en-US" sz="719" baseline="-40000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863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863" dirty="0"/>
          </a:p>
        </p:txBody>
      </p:sp>
      <p:sp>
        <p:nvSpPr>
          <p:cNvPr id="24" name="Shape 18"/>
          <p:cNvSpPr/>
          <p:nvPr/>
        </p:nvSpPr>
        <p:spPr>
          <a:xfrm>
            <a:off x="533301" y="6437436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19"/>
          <p:cNvSpPr/>
          <p:nvPr/>
        </p:nvSpPr>
        <p:spPr>
          <a:xfrm>
            <a:off x="11309077" y="6521524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17</a:t>
            </a:r>
            <a:endParaRPr lang="en-US" sz="9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E08EF669-97CC-C318-984C-CA2B3740B6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507435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ПРОФИЛЯ К КРЫЛУ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5074357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3D-крыло и связь с прочностью</a:t>
            </a:r>
            <a:endParaRPr lang="en-US" sz="2475" dirty="0"/>
          </a:p>
        </p:txBody>
      </p:sp>
      <p:sp>
        <p:nvSpPr>
          <p:cNvPr id="6" name="Shape 3"/>
          <p:cNvSpPr/>
          <p:nvPr/>
        </p:nvSpPr>
        <p:spPr>
          <a:xfrm>
            <a:off x="533301" y="2656706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704577" y="2580556"/>
            <a:ext cx="3953619" cy="2858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сечение крыла (двумерная задача).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33301" y="3037830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9" name="Text 6"/>
          <p:cNvSpPr/>
          <p:nvPr/>
        </p:nvSpPr>
        <p:spPr>
          <a:xfrm>
            <a:off x="704577" y="2961680"/>
            <a:ext cx="5620359" cy="765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Реальное крыло конечного размаха даёт концевые вихри →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индуктивное сопротивление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тем меньше, чем больше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удлинение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крыла.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33301" y="3898677"/>
            <a:ext cx="66601" cy="66601"/>
          </a:xfrm>
          <a:prstGeom prst="roundRect">
            <a:avLst>
              <a:gd name="adj" fmla="val 14302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1" name="Text 8"/>
          <p:cNvSpPr/>
          <p:nvPr/>
        </p:nvSpPr>
        <p:spPr>
          <a:xfrm>
            <a:off x="704577" y="3822526"/>
            <a:ext cx="5620359" cy="52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Крыло считают как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3D-задачу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2D-расчёт профиля — для подбора формы сечения и быстрых оценок.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33301" y="4500563"/>
            <a:ext cx="5627936" cy="941586"/>
          </a:xfrm>
          <a:prstGeom prst="rect">
            <a:avLst/>
          </a:prstGeom>
          <a:solidFill>
            <a:srgbClr val="F4F6FB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Shape 10"/>
          <p:cNvSpPr/>
          <p:nvPr/>
        </p:nvSpPr>
        <p:spPr>
          <a:xfrm>
            <a:off x="533301" y="4500563"/>
            <a:ext cx="23813" cy="941586"/>
          </a:xfrm>
          <a:prstGeom prst="rect">
            <a:avLst/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4" name="Text 11"/>
          <p:cNvSpPr/>
          <p:nvPr/>
        </p:nvSpPr>
        <p:spPr>
          <a:xfrm>
            <a:off x="738088" y="4643438"/>
            <a:ext cx="5411011" cy="6939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200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Распределение давления из CFD — это </a:t>
            </a:r>
            <a:r>
              <a:rPr lang="en-US" sz="120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нагрузка для прочностного (тема 4) и аэроупругого (тема 9) расчёта </a:t>
            </a:r>
            <a:r>
              <a:rPr lang="en-US" sz="1200" dirty="0">
                <a:solidFill>
                  <a:srgbClr val="3A3F45"/>
                </a:solidFill>
                <a:highlight>
                  <a:srgbClr val="F4F6FB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. Здесь сходятся дисциплины — смысл единого расчётного процесса (цифровой инжиниринг).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542236" y="5596433"/>
            <a:ext cx="5628109" cy="1730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825" dirty="0">
                <a:solidFill>
                  <a:srgbClr val="9A9E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Рекомендуемый источник: расчёты ПИШ СПбПУ / Центра НТИ. Под изображением — подпись и ссылка.</a:t>
            </a:r>
            <a:endParaRPr lang="en-US" sz="825" dirty="0"/>
          </a:p>
        </p:txBody>
      </p:sp>
      <p:sp>
        <p:nvSpPr>
          <p:cNvPr id="16" name="Shape 13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7" name="Text 14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17</a:t>
            </a:r>
            <a:endParaRPr lang="en-US" sz="900" dirty="0"/>
          </a:p>
        </p:txBody>
      </p:sp>
      <p:pic>
        <p:nvPicPr>
          <p:cNvPr id="19" name="Image 0" descr="preencoded.png">
            <a:extLst>
              <a:ext uri="{FF2B5EF4-FFF2-40B4-BE49-F238E27FC236}">
                <a16:creationId xmlns:a16="http://schemas.microsoft.com/office/drawing/2014/main" id="{18058C2F-1098-EA5E-5244-5D1EF00025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504393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ПРОЦЕСС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5043934" cy="3774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75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маршрут CFD-расчёта</a:t>
            </a:r>
            <a:endParaRPr lang="en-US" sz="2475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805" y="1690067"/>
            <a:ext cx="4268391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3301" y="4185171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63" dirty="0"/>
          </a:p>
        </p:txBody>
      </p:sp>
      <p:sp>
        <p:nvSpPr>
          <p:cNvPr id="8" name="Text 4"/>
          <p:cNvSpPr/>
          <p:nvPr/>
        </p:nvSpPr>
        <p:spPr>
          <a:xfrm>
            <a:off x="828477" y="4185171"/>
            <a:ext cx="3833564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Геометрия поверхности из CAD, очистка и упрощение.</a:t>
            </a:r>
            <a:endParaRPr lang="en-US" sz="1163" dirty="0"/>
          </a:p>
        </p:txBody>
      </p:sp>
      <p:sp>
        <p:nvSpPr>
          <p:cNvPr id="9" name="Text 5"/>
          <p:cNvSpPr/>
          <p:nvPr/>
        </p:nvSpPr>
        <p:spPr>
          <a:xfrm>
            <a:off x="6286500" y="4185171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63" dirty="0"/>
          </a:p>
        </p:txBody>
      </p:sp>
      <p:sp>
        <p:nvSpPr>
          <p:cNvPr id="10" name="Text 6"/>
          <p:cNvSpPr/>
          <p:nvPr/>
        </p:nvSpPr>
        <p:spPr>
          <a:xfrm>
            <a:off x="6581676" y="4185171"/>
            <a:ext cx="3858121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Граничные условия: набегающий поток, стенки, выход.</a:t>
            </a:r>
            <a:endParaRPr lang="en-US" sz="1163" dirty="0"/>
          </a:p>
        </p:txBody>
      </p:sp>
      <p:sp>
        <p:nvSpPr>
          <p:cNvPr id="11" name="Text 7"/>
          <p:cNvSpPr/>
          <p:nvPr/>
        </p:nvSpPr>
        <p:spPr>
          <a:xfrm>
            <a:off x="533301" y="4460503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63" dirty="0"/>
          </a:p>
        </p:txBody>
      </p:sp>
      <p:sp>
        <p:nvSpPr>
          <p:cNvPr id="12" name="Text 8"/>
          <p:cNvSpPr/>
          <p:nvPr/>
        </p:nvSpPr>
        <p:spPr>
          <a:xfrm>
            <a:off x="828477" y="4460503"/>
            <a:ext cx="4158667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Расчётная область вокруг аппарата достаточного размера.</a:t>
            </a:r>
            <a:endParaRPr lang="en-US" sz="1163" dirty="0"/>
          </a:p>
        </p:txBody>
      </p:sp>
      <p:sp>
        <p:nvSpPr>
          <p:cNvPr id="13" name="Text 9"/>
          <p:cNvSpPr/>
          <p:nvPr/>
        </p:nvSpPr>
        <p:spPr>
          <a:xfrm>
            <a:off x="6286500" y="4460503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63" dirty="0"/>
          </a:p>
        </p:txBody>
      </p:sp>
      <p:sp>
        <p:nvSpPr>
          <p:cNvPr id="14" name="Text 10"/>
          <p:cNvSpPr/>
          <p:nvPr/>
        </p:nvSpPr>
        <p:spPr>
          <a:xfrm>
            <a:off x="6581676" y="4460503"/>
            <a:ext cx="3526743" cy="265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и контроль сходимости (невязки, C</a:t>
            </a:r>
            <a:r>
              <a:rPr lang="en-US" sz="969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/C</a:t>
            </a:r>
            <a:r>
              <a:rPr lang="en-US" sz="969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163" dirty="0"/>
          </a:p>
        </p:txBody>
      </p:sp>
      <p:sp>
        <p:nvSpPr>
          <p:cNvPr id="15" name="Text 11"/>
          <p:cNvSpPr/>
          <p:nvPr/>
        </p:nvSpPr>
        <p:spPr>
          <a:xfrm>
            <a:off x="533301" y="4763988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63" dirty="0"/>
          </a:p>
        </p:txBody>
      </p:sp>
      <p:sp>
        <p:nvSpPr>
          <p:cNvPr id="16" name="Text 12"/>
          <p:cNvSpPr/>
          <p:nvPr/>
        </p:nvSpPr>
        <p:spPr>
          <a:xfrm>
            <a:off x="828477" y="4763988"/>
            <a:ext cx="3990318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Сетка: объёмная + призматические слои под нужный y+.</a:t>
            </a:r>
            <a:endParaRPr lang="en-US" sz="1163" dirty="0"/>
          </a:p>
        </p:txBody>
      </p:sp>
      <p:sp>
        <p:nvSpPr>
          <p:cNvPr id="17" name="Text 13"/>
          <p:cNvSpPr/>
          <p:nvPr/>
        </p:nvSpPr>
        <p:spPr>
          <a:xfrm>
            <a:off x="6286500" y="4763988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63" dirty="0"/>
          </a:p>
        </p:txBody>
      </p:sp>
      <p:sp>
        <p:nvSpPr>
          <p:cNvPr id="18" name="Text 14"/>
          <p:cNvSpPr/>
          <p:nvPr/>
        </p:nvSpPr>
        <p:spPr>
          <a:xfrm>
            <a:off x="6581676" y="4763988"/>
            <a:ext cx="3750208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Постобработка: поля, силы, линии тока, зоны отрыва.</a:t>
            </a:r>
            <a:endParaRPr lang="en-US" sz="1163" dirty="0"/>
          </a:p>
        </p:txBody>
      </p:sp>
      <p:sp>
        <p:nvSpPr>
          <p:cNvPr id="19" name="Text 15"/>
          <p:cNvSpPr/>
          <p:nvPr/>
        </p:nvSpPr>
        <p:spPr>
          <a:xfrm>
            <a:off x="533301" y="5039320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63" dirty="0"/>
          </a:p>
        </p:txBody>
      </p:sp>
      <p:sp>
        <p:nvSpPr>
          <p:cNvPr id="20" name="Text 16"/>
          <p:cNvSpPr/>
          <p:nvPr/>
        </p:nvSpPr>
        <p:spPr>
          <a:xfrm>
            <a:off x="828477" y="5039320"/>
            <a:ext cx="4493319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модели (часто k–ω SST), при необходимости — переход.</a:t>
            </a:r>
            <a:endParaRPr lang="en-US" sz="1163" dirty="0"/>
          </a:p>
        </p:txBody>
      </p:sp>
      <p:sp>
        <p:nvSpPr>
          <p:cNvPr id="21" name="Text 17"/>
          <p:cNvSpPr/>
          <p:nvPr/>
        </p:nvSpPr>
        <p:spPr>
          <a:xfrm>
            <a:off x="6286500" y="5039320"/>
            <a:ext cx="266700" cy="2372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63" dirty="0"/>
          </a:p>
        </p:txBody>
      </p:sp>
      <p:sp>
        <p:nvSpPr>
          <p:cNvPr id="22" name="Text 18"/>
          <p:cNvSpPr/>
          <p:nvPr/>
        </p:nvSpPr>
        <p:spPr>
          <a:xfrm>
            <a:off x="6581676" y="5039320"/>
            <a:ext cx="5229334" cy="4364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163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Верификация и валидация </a:t>
            </a:r>
            <a:r>
              <a:rPr lang="en-US" sz="1163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(сеточная сходимость; сравнение с экспериментом) — тема 13.</a:t>
            </a:r>
            <a:endParaRPr lang="en-US" sz="1163" dirty="0"/>
          </a:p>
        </p:txBody>
      </p:sp>
      <p:sp>
        <p:nvSpPr>
          <p:cNvPr id="23" name="Shape 19"/>
          <p:cNvSpPr/>
          <p:nvPr/>
        </p:nvSpPr>
        <p:spPr>
          <a:xfrm>
            <a:off x="533301" y="64278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4" name="Text 20"/>
          <p:cNvSpPr/>
          <p:nvPr/>
        </p:nvSpPr>
        <p:spPr>
          <a:xfrm>
            <a:off x="11309077" y="6521524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17</a:t>
            </a:r>
            <a:endParaRPr lang="en-US" sz="900" dirty="0"/>
          </a:p>
        </p:txBody>
      </p:sp>
      <p:pic>
        <p:nvPicPr>
          <p:cNvPr id="26" name="Image 0" descr="preencoded.png">
            <a:extLst>
              <a:ext uri="{FF2B5EF4-FFF2-40B4-BE49-F238E27FC236}">
                <a16:creationId xmlns:a16="http://schemas.microsoft.com/office/drawing/2014/main" id="{D4DEA3C1-53EC-6296-3523-32A583158C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3301" y="819051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1"/>
          <p:cNvSpPr/>
          <p:nvPr/>
        </p:nvSpPr>
        <p:spPr>
          <a:xfrm>
            <a:off x="533301" y="969863"/>
            <a:ext cx="13331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75" b="1" kern="0" spc="137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533301" y="1179339"/>
            <a:ext cx="2413099" cy="311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0000" lnSpcReduction="20000"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50" b="1" dirty="0">
                <a:solidFill>
                  <a:srgbClr val="1D1D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Выводы</a:t>
            </a:r>
            <a:endParaRPr lang="en-US" sz="2550" dirty="0"/>
          </a:p>
        </p:txBody>
      </p:sp>
      <p:sp>
        <p:nvSpPr>
          <p:cNvPr id="6" name="Shape 3"/>
          <p:cNvSpPr/>
          <p:nvPr/>
        </p:nvSpPr>
        <p:spPr>
          <a:xfrm>
            <a:off x="533301" y="2719834"/>
            <a:ext cx="228575" cy="228575"/>
          </a:xfrm>
          <a:prstGeom prst="roundRect">
            <a:avLst>
              <a:gd name="adj" fmla="val 250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7" name="Text 4"/>
          <p:cNvSpPr/>
          <p:nvPr/>
        </p:nvSpPr>
        <p:spPr>
          <a:xfrm>
            <a:off x="495201" y="2719834"/>
            <a:ext cx="304775" cy="266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885651" y="2719834"/>
            <a:ext cx="11432616" cy="274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Течение описывают уравнения сохранения массы и импульса (неразрывность + Навье–Стокс); для скоростей БПЛА течение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несжимаемо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33301" y="3089672"/>
            <a:ext cx="228575" cy="228575"/>
          </a:xfrm>
          <a:prstGeom prst="roundRect">
            <a:avLst>
              <a:gd name="adj" fmla="val 250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0" name="Text 7"/>
          <p:cNvSpPr/>
          <p:nvPr/>
        </p:nvSpPr>
        <p:spPr>
          <a:xfrm>
            <a:off x="495201" y="3089672"/>
            <a:ext cx="304775" cy="266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85651" y="3089672"/>
            <a:ext cx="11009151" cy="274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критерий подобия —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число Рейнольдса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БПЛА работают в области малых Re, где важны ламинарный отрыв и ранний срыв.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33301" y="3459510"/>
            <a:ext cx="228575" cy="228575"/>
          </a:xfrm>
          <a:prstGeom prst="roundRect">
            <a:avLst>
              <a:gd name="adj" fmla="val 250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3" name="Text 10"/>
          <p:cNvSpPr/>
          <p:nvPr/>
        </p:nvSpPr>
        <p:spPr>
          <a:xfrm>
            <a:off x="495201" y="3459510"/>
            <a:ext cx="304775" cy="266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885651" y="3459510"/>
            <a:ext cx="11096238" cy="511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Турбулентность учитывают через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RANS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модели турбулентной вязкости; частый выбор для крыла —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k–ω SST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при необходимости с моделью перехода.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33301" y="4065860"/>
            <a:ext cx="228575" cy="228575"/>
          </a:xfrm>
          <a:prstGeom prst="roundRect">
            <a:avLst>
              <a:gd name="adj" fmla="val 250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6" name="Text 13"/>
          <p:cNvSpPr/>
          <p:nvPr/>
        </p:nvSpPr>
        <p:spPr>
          <a:xfrm>
            <a:off x="495201" y="4065860"/>
            <a:ext cx="304775" cy="266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885651" y="4065860"/>
            <a:ext cx="11133844" cy="274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Метод конечных объёмов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консервативен и потому стандарт промышленного CFD; точность зависит от схемы дискретизации и сетки.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33301" y="4435698"/>
            <a:ext cx="228575" cy="228575"/>
          </a:xfrm>
          <a:prstGeom prst="roundRect">
            <a:avLst>
              <a:gd name="adj" fmla="val 250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19" name="Text 16"/>
          <p:cNvSpPr/>
          <p:nvPr/>
        </p:nvSpPr>
        <p:spPr>
          <a:xfrm>
            <a:off x="495201" y="4435698"/>
            <a:ext cx="304775" cy="266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75" dirty="0"/>
          </a:p>
        </p:txBody>
      </p:sp>
      <p:sp>
        <p:nvSpPr>
          <p:cNvPr id="20" name="Text 17"/>
          <p:cNvSpPr/>
          <p:nvPr/>
        </p:nvSpPr>
        <p:spPr>
          <a:xfrm>
            <a:off x="885651" y="4435698"/>
            <a:ext cx="10598646" cy="274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Качество пристеночной сетки задаёт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y+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; достоверность подтверждают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сеточной сходимостью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сравнением с экспериментом.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33301" y="4805536"/>
            <a:ext cx="228575" cy="228575"/>
          </a:xfrm>
          <a:prstGeom prst="roundRect">
            <a:avLst>
              <a:gd name="adj" fmla="val 25003"/>
            </a:avLst>
          </a:prstGeom>
          <a:solidFill>
            <a:srgbClr val="00008F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2" name="Text 19"/>
          <p:cNvSpPr/>
          <p:nvPr/>
        </p:nvSpPr>
        <p:spPr>
          <a:xfrm>
            <a:off x="495201" y="4805536"/>
            <a:ext cx="304775" cy="266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lnSpc>
                <a:spcPct val="138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75" dirty="0"/>
          </a:p>
        </p:txBody>
      </p:sp>
      <p:sp>
        <p:nvSpPr>
          <p:cNvPr id="23" name="Text 20"/>
          <p:cNvSpPr/>
          <p:nvPr/>
        </p:nvSpPr>
        <p:spPr>
          <a:xfrm>
            <a:off x="885651" y="4805536"/>
            <a:ext cx="11096238" cy="545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8000"/>
              </a:lnSpc>
              <a:buNone/>
            </a:pP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 расчёта (C</a:t>
            </a:r>
            <a:r>
              <a:rPr lang="en-US" sz="1125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</a:t>
            </a:r>
            <a:r>
              <a:rPr lang="en-US" sz="1125" baseline="-4000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K, поля давления) питает </a:t>
            </a:r>
            <a:r>
              <a:rPr lang="en-US" sz="1350" b="1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матрицу требований </a:t>
            </a:r>
            <a:r>
              <a:rPr lang="en-US" sz="1350" dirty="0">
                <a:solidFill>
                  <a:srgbClr val="3A3F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прочностной/аэроупругий расчёт — в этом смысл единого расчётного процесса.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533301" y="6408787"/>
            <a:ext cx="11125398" cy="9525"/>
          </a:xfrm>
          <a:prstGeom prst="rect">
            <a:avLst/>
          </a:prstGeom>
          <a:solidFill>
            <a:srgbClr val="E2E4E8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25" name="Text 22"/>
          <p:cNvSpPr/>
          <p:nvPr/>
        </p:nvSpPr>
        <p:spPr>
          <a:xfrm>
            <a:off x="11309077" y="6502425"/>
            <a:ext cx="425822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17</a:t>
            </a:r>
            <a:endParaRPr lang="en-US" sz="900" dirty="0"/>
          </a:p>
        </p:txBody>
      </p:sp>
      <p:pic>
        <p:nvPicPr>
          <p:cNvPr id="27" name="Image 0" descr="preencoded.png">
            <a:extLst>
              <a:ext uri="{FF2B5EF4-FFF2-40B4-BE49-F238E27FC236}">
                <a16:creationId xmlns:a16="http://schemas.microsoft.com/office/drawing/2014/main" id="{1A83F36F-3EFE-69C7-C4CB-7FE95CB80D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00" y="50998"/>
            <a:ext cx="10188435" cy="6728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2435</Words>
  <Application>Microsoft Office PowerPoint</Application>
  <PresentationFormat>Широкоэкранный</PresentationFormat>
  <Paragraphs>234</Paragraphs>
  <Slides>17</Slides>
  <Notes>17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Сергей Салкуцан</cp:lastModifiedBy>
  <cp:revision>2</cp:revision>
  <dcterms:created xsi:type="dcterms:W3CDTF">2026-06-26T22:59:09Z</dcterms:created>
  <dcterms:modified xsi:type="dcterms:W3CDTF">2026-06-26T23:05:30Z</dcterms:modified>
</cp:coreProperties>
</file>